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PITCH D  ·  INTERTWINED  ·  STRATEGY EARNS A PRODUCT LINE  ·  CUT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>
                <a:solidFill>
                  <a:srgbClr val="1A1F1C"/>
                </a:solidFill>
                <a:latin typeface="Georgia"/>
              </a:rPr>
              <a:t>Kalpi / קלפי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F1C"/>
                </a:solidFill>
                <a:latin typeface="Calibri"/>
              </a:rPr>
              <a:t>Free digital collect-only TCG of the 2026 lists. Pack = bait. Smart vote + show-up = goal.</a:t>
            </a:r>
          </a:p>
          <a:p>
            <a:r>
              <a:rPr sz="1600" b="0">
                <a:solidFill>
                  <a:srgbClr val="1A1F1C"/>
                </a:solidFill>
                <a:latin typeface="Calibri"/>
              </a:rPr>
              <a:t>Game never picks a side. You may. Election 27 Oct. Lists 9 Sept. Threshold 3.25%. 120 / 61.</a:t>
            </a:r>
          </a:p>
          <a:p>
            <a:r>
              <a:rPr sz="1600" b="0">
                <a:solidFill>
                  <a:srgbClr val="1A1F1C"/>
                </a:solidFill>
                <a:latin typeface="Calibri"/>
              </a:rPr>
              <a:t>No battles, lore, or IAP. Equal 8-card skeleton. Server pulls. Client displays.</a:t>
            </a:r>
          </a:p>
          <a:p>
            <a:r>
              <a:rPr sz="1600" b="0">
                <a:solidFill>
                  <a:srgbClr val="1A1F1C"/>
                </a:solidFill>
                <a:latin typeface="Calibri"/>
              </a:rPr>
              <a:t>C = civic story. This deck = product a room can cut from. Notes are longer than the slides.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1  / 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STRATEGY  ·  WHAT WE CAN PROVE  ·  WHY THIS COHORT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Georgia"/>
              </a:rPr>
              <a:t>46.7% of 18–24s   vs   74.9% of 65–74s   ·   ~600k first-timers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F1C"/>
                </a:solidFill>
                <a:latin typeface="Calibri"/>
              </a:rPr>
              <a:t>Knesset RIC after 2021. National 2022: 70.6%. A 28-point age gap — persistent, not a collapse.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Lavi &amp; Adler: youth vote more than young Europeans; still far below older Israelis.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595–640k first-timers (18–22). ~8.7% of the roll. On the order of six seats. Points / IDI / CBS.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Still the target: lowest turnout, largest new bloc, weakest list-knowledge. Older voters already show up.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This group can move six seats without knowing slots 1–20. Lists 9 Sept. Election 27 Oct. Virality needs weeks.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2  / 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STRATEGY  ·  SURVEYS ARE NOT TURNOUT  ·  TWO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A1F1C"/>
                </a:solidFill>
                <a:latin typeface="Georgia"/>
              </a:rPr>
              <a:t>80–95% intend. That is not a forecast.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F1C"/>
                </a:solidFill>
                <a:latin typeface="Calibri"/>
              </a:rPr>
              <a:t>IDI May 2026, n=576 first-timers: 80–95% intend.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Same institute, 2013: ~88% intended, ~92% later said they voted, official 67.8%.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18–22 already most likely to stay home (17.7% / ~15% after) vs 7–9% older. Overreport is known.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Assume 2026 youth turnout stays low vs older adults — even if a few points above 46.7%.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Two jobs: get them there, and make the slip informed. Feed is #1 source; most do not seek.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No invented “X% cannot name three parties.” Say: they do not know the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3  / 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STRATEGY + PRODUCT  ·  THEY DO NOT KNOW WHO  ·  SO THE PRODUCT…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F1C"/>
                </a:solidFill>
                <a:latin typeface="Georgia"/>
              </a:rPr>
              <a:t>“Bennett is a bro.”  Lived. Not a fake knowledge 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F1C"/>
                </a:solidFill>
                <a:latin typeface="Calibri"/>
              </a:rPr>
              <a:t>Me — a vibe is not a platform. Little brother — does not know. Hadar Muchtar — same room.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NEW VOTERS → teach lists + the booth. Do not assume they know.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PARENT DEFAULT → facts without a family fight. Not “rebel against home.”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DON’T CARE (war, load) → 90-second rip. Dopamine first. Lecture never.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TIKTOK / FAKE NEWS as civics → sourced backs + commons. Knowledge, not clip-by-clip.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AFRAID TO SHOW AN OPINION → in-game faction is anonymous (tile, not a name).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4  / 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STRATEGY  ·  WHY NOT PARENTS  ·  WHY LITERACY  ·  JAM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F1C"/>
                </a:solidFill>
                <a:latin typeface="Georgia"/>
              </a:rPr>
              <a:t>Rebellion. They are invested. Solution: literacy.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F1C"/>
                </a:solidFill>
                <a:latin typeface="Calibri"/>
              </a:rPr>
              <a:t>A parent lecture is the wrong teacher. Parents already decided — that is a fight, not a syllabus.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אוריינות פוליטית: teach a smart vote without a parent, a party ad, or a TikTok. They chose to flip.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Fake news supports this: if they know the list, a fake has less room. We do not fact-check clip-by-clip.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Jam: knowledge (backs/quiz/commons) · socials (share/tally/trade) · encourage voting (habit to 27 Oct).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Taking a choice (faction, survey pack, then a real slip) · literacy = north star · young audience.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5  / 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STRATEGY + PRODUCT  ·  TRAIT → THIS FORMAT,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Georgia"/>
              </a:rPr>
              <a:t>If the product is a lecture, we already lost this 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1C"/>
                </a:solidFill>
                <a:latin typeface="Calibri"/>
              </a:rPr>
              <a:t>47s focus, median 40 (Gloria Mark) → rip under 90s. Not a PDF.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Variable rewards → the rip is the habit engine, on purpose.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Feed politics → lesson on the card back + commons + quiz.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Afraid to speak → anonymous faction. Viral or invisible → share the 1/1.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Pocket (~150M / ~$1.3B y1) → daily pack, ritual, binder, screenshot. Not battles.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State Makers sold out a 98-card Israeli history set. Collectr: TCG sales +107% in 2025.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Digital + free = reach, speed, no pay-to-win, no civic/money fight. Hit it now — lists 9 Sept.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6  / 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STRATEGY + PRODUCT  ·  LOCAL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Georgia"/>
              </a:rPr>
              <a:t>State Makers / יוצרים מדינה — do not compress to “cards work.”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F1C"/>
                </a:solidFill>
                <a:latin typeface="Calibri"/>
              </a:rPr>
              <a:t>Piece of History. 98 cards. Packs of 8. Holos. First edition sold out.</a:t>
            </a:r>
          </a:p>
          <a:p>
            <a:r>
              <a:rPr sz="1600" b="0">
                <a:solidFill>
                  <a:srgbClr val="1A1F1C"/>
                </a:solidFill>
                <a:latin typeface="Calibri"/>
              </a:rPr>
              <a:t>People paid to collect — and learned the country’s story. The format teaches here.</a:t>
            </a:r>
          </a:p>
          <a:p>
            <a:r>
              <a:rPr sz="1600" b="0">
                <a:solidFill>
                  <a:srgbClr val="1A1F1C"/>
                </a:solidFill>
                <a:latin typeface="Calibri"/>
              </a:rPr>
              <a:t>We point that at this election: digital, free, equal lists, no till. Our pack is 6 — faster than their 8.</a:t>
            </a:r>
          </a:p>
          <a:p>
            <a:r>
              <a:rPr sz="1600" b="0">
                <a:solidFill>
                  <a:srgbClr val="1A1F1C"/>
                </a:solidFill>
                <a:latin typeface="Calibri"/>
              </a:rPr>
              <a:t>They are cardboard / history-as-hobby. Next: why digital, and the global wave.</a:t>
            </a:r>
          </a:p>
          <a:p>
            <a:r>
              <a:rPr sz="1600" b="0">
                <a:solidFill>
                  <a:srgbClr val="1A1F1C"/>
                </a:solidFill>
                <a:latin typeface="Calibri"/>
              </a:rPr>
              <a:t>pieceofhistory.com/statemakers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7  / 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STRATEGY + PRODUCT  ·  POCKET’S FIVE  ·  WHAT WE REFUSE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Georgia"/>
              </a:rPr>
              <a:t>Daily pack. Ritual. Sets. Screenshot. Quick session.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1C"/>
                </a:solidFill>
                <a:latin typeface="Calibri"/>
              </a:rPr>
              <a:t>1  Clock, not a pile — one free pack / 24h. (8h drops parked, more hostile, not Alpha.)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2  Tear / pause — addictive on purpose. A fade-to-grid is not a collectible.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3  Binder hole — collect sets, not a duel. Missing well = missing fact.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4  Rarity you screenshot — that is the virality. Social is show, not chat.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5  Under 90 seconds. Earlier digital Pokémon skipped collecting and stalled.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Take the door. Refuse shop, hourglasses, Wonder-Pick paid rewind, battles.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Why not a quiz app? Quiz apps are not a daily habit for this age. Pocket showed what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8  / 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STRATEGY  ·  THE IRON IS HOT  ·  WINDOW IS SEPTEMBER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Georgia"/>
              </a:rPr>
              <a:t>The format left Pokémon. Subject is not the limiter.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1C"/>
                </a:solidFill>
                <a:latin typeface="Calibri"/>
              </a:rPr>
              <a:t>Pokémon still ~65% of tracked hobby. Pocket (30 Oct 2024) is the digital daily-pack proof.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One Piece: nothing in 2022, hobby #2 (~17%) now. A new IP can become a collect giant fast.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Riftbound (LoL, 31 Oct 2025): fastest 30-day move Cardlogs tracked. Cyberpunk TCG: ~$27M KS.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Sports never left. Life TCG prints holos to animal population — we invert that to list slot.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US politics cards exist (Decision 2024; Politic Packs). State Makers = best Israeli analog, not worldwide.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Collectr: tracked sales +107% in 2025. Direction, not a random market-size $. Hit it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9  / 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PRODUCT  ·  THEREFORE KALPI  ·  BAIT VS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F1C"/>
                </a:solidFill>
                <a:latin typeface="Georgia"/>
              </a:rPr>
              <a:t>Pack is bait. Smart vote + show-up is the goal.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1C"/>
                </a:solidFill>
                <a:latin typeface="Calibri"/>
              </a:rPr>
              <a:t>Free digital collect-only TCG of the lists. Teach them well enough that they know the list at the kalpi.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Card back is ONE lesson. Same job: quiz, commons, party pack, trading a dupe, real-life party work.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A rip with no learning beat fails. Extra pack = quiz. Not spend. Not in-game faction.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No battles, lore, IAP, client-trusted pulls, live polls in our voice, “Kalpi recommends,” outing a camp, cash Alpha.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Equal 8-card skeleton + 4 commons. PoC: Likud · Democrats · Ra'am (map spread) = 28 sourced cards.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10  / 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PRODUCT  ·  COLLECTIBLE MUSTS  ·  KNOWLEDGE ON 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Georgia"/>
              </a:rPr>
              <a:t>Essence of a collectible. Learning bound to progression.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1C"/>
                </a:solidFill>
                <a:latin typeface="Calibri"/>
              </a:rPr>
              <a:t>Rip ritual → hold → flip the back. ~1.5s Alpha; 3s is the idea (too hostile to launch). Never skip the back as default.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Timer 1/24h. No hourglass shop. Pity after 3 dry packs = new knowledge. Duplicates still show the back.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Printed mix 3C / 2U / 1R-or-H. Hidden odds are a loot-box tell. Card lands in a hole = missing fact.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Screenshot the 1/1. Date can caption a holo; slot-number is the chase. Extra pack = quiz on a pulled card.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New lists after 9 Sept. Pulse later = CEC facts only — never horse-race polls.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11  / 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PRODUCT  ·  CORE LOOP  ·  PACK RULES  ·  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F1C"/>
                </a:solidFill>
                <a:latin typeface="Georgia"/>
              </a:rPr>
              <a:t>login → rip 6 → hold → flip back → binder → share / quiz / tally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1C"/>
                </a:solidFill>
                <a:latin typeface="Calibri"/>
              </a:rPr>
              <a:t>Session: 5s to pack, 20–30s rip, 20–40s flip, 10–15s binder. Default under 90s. Deep browse optional.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Printed mix. Pity. Prefer an incomplete set. Commons every other pack. Server creates; client displays.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Alpha: guest, daily pack, rip, flip, binder %, share image. Server pulls from day one.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Designed later: quiz, faction, volunteer bundle, survey pack, streaks, numbered holos, trading, boards.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No paid rerolls. Pledge does not grant a pack. Energy does not 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12  / 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PRODUCT  ·  QUIZ ON PULLED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F1C"/>
                </a:solidFill>
                <a:latin typeface="Georgia"/>
              </a:rPr>
              <a:t>You only get asked what you already ripped. Prefer the last pack.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F1C"/>
                </a:solidFill>
                <a:latin typeface="Calibri"/>
              </a:rPr>
              <a:t>Popup: that same face + name. Swipe role / known-for (from the back). Swipe list. 3–4 options. 5:00.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Both right → one extra pack. Wrong or timeout → show the back. One win per day. New popup later if they fail.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Cannot farm a card you never pulled. Dismissible. Never blocks the daily pack. No “who is good.”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Commons quiz 120 / 3.25% / closed list / CEC date the same way. Login = habit. Learning = bonus pack.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13  / 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PRODUCT  ·  THREE CHOICE MECHANICS  ·  ENERGY IS DEAD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Georgia"/>
              </a:rPr>
              <a:t>Do not mix these. There is no currency.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1C"/>
                </a:solidFill>
                <a:latin typeface="Calibri"/>
              </a:rPr>
              <a:t>1  IN-GAME FACTION: pick a list. Each pack +1 on a public tally. Scoreboard, not a poll. No extra pack. Anonymous. Switch ok. Unfactioned still play. Tiles same size; order = CEC letter, not polls.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2  REAL-LIFE PARTY WORK: verified HQ / campaign / kalpi. Best way to learn. Pays a PACK BUNDLE. Does not auto-join the faction.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3  SURVEY → PARTY PACK: issue survey, published table, same questions. Pack of matched-list politicians only. Tool, not endorsement. Never hides the binder. Never auto-factions.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14  / 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PRODUCT  ·  LIST-SLOT NUMBERED HOLOS  ·  LIFE TCG INVERT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F1C"/>
                </a:solidFill>
                <a:latin typeface="Georgia"/>
              </a:rPr>
              <a:t>Print run means something real. We print to official list slot.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F1C"/>
                </a:solidFill>
                <a:latin typeface="Calibri"/>
              </a:rPr>
              <a:t>Slot 1 → 1/1. Slot 2 → 1/2 · 2/2. Slot 3 → 1/3 · 2/3 · 3/3. Slot n → 1/n … n/n.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Likud 1, Democrats 1, Ra'am 1 are all 1/1. Teach order, not poll share. Never seats. Never “importance.”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Life TCG prints holos to wild population. We steal the idea and invert it for neutrality.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Server assigns the number. Symbol / platform / quote / commons are not slot-numbered.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Separate: a holo can carry the date as a screenshot caption. Slot-number is the chase.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15  / 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CONTENT  ·  WHAT IS ON A CARD  ·  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Georgia"/>
              </a:rPr>
              <a:t>Member. Symbol. Platform. Quote. Commons.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1C"/>
                </a:solidFill>
                <a:latin typeface="Calibri"/>
              </a:rPr>
              <a:t>Per list: 4 members · 1 symbol · 2 platform · 1 quote. Same rarity math. Same art weight. No cool party.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Commons: Knesset 120 · closed list · threshold 3.25% (since 2015) · CEC 9 September.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Back: who / role / one vote-useful fact. Quote labeled + dated + sourced. Source on the card.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Hebrew when we ship. Tired 19-year-old voice. No campaign “we.” No slogans as facts.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Pulse later: CEC calendar only. Never live polls or “X is leading” in our voice. Civic objects, not press 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16  / 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DESIGN  ·  PLAY IT  ·  TOKENS</a:t>
            </a:r>
          </a:p>
        </p:txBody>
      </p:sp>
      <p:pic>
        <p:nvPicPr>
          <p:cNvPr id="3" name="Picture 2" descr="hero-art-kal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828800" cy="2560320"/>
          </a:xfrm>
          <a:prstGeom prst="rect">
            <a:avLst/>
          </a:prstGeom>
        </p:spPr>
      </p:pic>
      <p:pic>
        <p:nvPicPr>
          <p:cNvPr id="4" name="Picture 3" descr="hero-art-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960120"/>
            <a:ext cx="1828800" cy="2560320"/>
          </a:xfrm>
          <a:prstGeom prst="rect">
            <a:avLst/>
          </a:prstGeom>
        </p:spPr>
      </p:pic>
      <p:pic>
        <p:nvPicPr>
          <p:cNvPr id="5" name="Picture 4" descr="hero-art-memchetlam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960120"/>
            <a:ext cx="18288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70332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F1C"/>
                </a:solidFill>
                <a:latin typeface="Calibri"/>
              </a:rPr>
              <a:t>Paper, ink, foil. Party color = 8px pip only — never a wash. Shared chrome so no list is the hero.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Date stamp on the holo. מחל = letters in the booth. Alpha: pack, flip, binder. Server pulls.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Flip hero-cards.html  ·  phone wireframes  ·  visual system already locked.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17  / 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PRODUCT  ·  WHY THEY STAY  · 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Georgia"/>
              </a:rPr>
              <a:t>Faction + cash are not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1C"/>
                </a:solidFill>
                <a:latin typeface="Calibri"/>
              </a:rPr>
              <a:t>ALPHA: daily clock, pity, binder %, share image.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DESIGNED: quiz extra pack, faction tally (no reward), real-life bundle, survey party pack, trading (no paid gate),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          slot 1/1 + date stamp, streaks 3/7, commons-complete badge, country board / leagues / set race.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10k NIS first-set = pitch concept, legal later. Not Alpha.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Metrics (deck, not Alpha): D1/D7 · % flipped to the back · quiz accuracy · extra packs from learning vs login · set %.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Vanity (pulls, holos shared) only as leading indicators of the learning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18  / 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GROWTH  ·  HOW IT LEAVES THE ROOM  ·  OUTBID INVERT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F1C"/>
                </a:solidFill>
                <a:latin typeface="Georgia"/>
              </a:rPr>
              <a:t>Share the rare. Seed where they are. Nobody pays for rank.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1C"/>
                </a:solidFill>
                <a:latin typeface="Calibri"/>
              </a:rPr>
              <a:t>Screenshot the 1/1. TikTok / Instagram / WhatsApp. Influencers: their 18–24 is ours. Hebrew as soon as the rip works.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Weavy / Figma Weave: stills, rip films, promo. Generate, then cut. Same deadline argument as AI art.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outbid.lol (19 Aug 2026): pay-to-rank. Founder-reported ~1M visits, six-figure bids, top spot ~$13–17k.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Proof people pay for a ladder. We invert — civic race, nobody pays. Treat dollars as founder-reported if picky.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Lists 9 Sept. Virality needs weeks. Leave the room only if it can be live in September — free, Hebrew, seeded.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19  / 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IMPLEMENTATION  ·  HTML FIRST  ·  SERVER OWNS LUCK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F1C"/>
                </a:solidFill>
                <a:latin typeface="Georgia"/>
              </a:rPr>
              <a:t>Open a URL. Server pulls. Client displays.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1C"/>
                </a:solidFill>
                <a:latin typeface="Calibri"/>
              </a:rPr>
              <a:t>HTML first. No store. No framework tax. Tokens locked. Skills: frontend-design + kalpi-frontend.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POST /packs/daily → clock / pity → RNG → persist inventory → six ids. Never POST { cards } as a pull.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Quiz grade (owned ids), faction tally, volunteer bundle, party-pack match, streaks: server-side.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Rate-limit: one daily pack, one quiz-pack per day. Guest ok; bind later.</a:t>
            </a:r>
          </a:p>
          <a:p>
            <a:r>
              <a:rPr sz="1400" b="0">
                <a:solidFill>
                  <a:srgbClr val="1A1F1C"/>
                </a:solidFill>
                <a:latin typeface="Calibri"/>
              </a:rPr>
              <a:t>Weavy for motion. Civic objects, not scraped press faces. Artist pass if funded. Do not wait.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20  / 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DESIGN  ·  THE ENDS JUSTIFY THE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A1F1C"/>
                </a:solidFill>
                <a:latin typeface="Georgia"/>
              </a:rPr>
              <a:t>Empty of lore. Full of cause.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F1C"/>
                </a:solidFill>
                <a:latin typeface="Calibri"/>
              </a:rPr>
              <a:t>Jams reward heart in the fiction. We shipped dopamine on purpose — rips, AI art, a faction board, no story bible.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Civic goal is the message. Lists 9 Sept. Hand-painting every member of every list is how you miss October.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Same psychology as gacha — and floors: no spend, short sessions, pity, extra packs only when they learn.</a:t>
            </a:r>
          </a:p>
          <a:p>
            <a:r>
              <a:rPr sz="1500" b="0">
                <a:solidFill>
                  <a:srgbClr val="1A1F1C"/>
                </a:solidFill>
                <a:latin typeface="Calibri"/>
              </a:rPr>
              <a:t>Prior jams: guygir.itch.io — emptiness is a choice, not a missing soul.</a:t>
            </a:r>
          </a:p>
        </p:txBody>
      </p:sp>
      <p:pic>
        <p:nvPicPr>
          <p:cNvPr id="5" name="Picture 4" descr="qr-guygir-itch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0584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21  / 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F4A"/>
                </a:solidFill>
                <a:latin typeface="Calibri"/>
              </a:rPr>
              <a:t>27 OCTOBER 2026  ·  ONE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1A1F1C"/>
                </a:solidFill>
                <a:latin typeface="Georgia"/>
              </a:rPr>
              <a:t>Assume the gap. Give them a pack they will open.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0604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F1C"/>
                </a:solidFill>
                <a:latin typeface="Calibri"/>
              </a:rPr>
              <a:t>Live in September. Free. Hebrew. Seeded where 18–24 already are.</a:t>
            </a:r>
          </a:p>
          <a:p>
            <a:r>
              <a:rPr sz="1600" b="0">
                <a:solidFill>
                  <a:srgbClr val="1A1F1C"/>
                </a:solidFill>
                <a:latin typeface="Calibri"/>
              </a:rPr>
              <a:t>Civic story only: present C. This room was the product.</a:t>
            </a:r>
          </a:p>
          <a:p>
            <a:r>
              <a:rPr sz="1600" b="0">
                <a:solidFill>
                  <a:srgbClr val="1A1F1C"/>
                </a:solidFill>
                <a:latin typeface="Calibri"/>
              </a:rPr>
              <a:t>Forbidden: IDI-as-forecast. Invented knowledge %. “Kalpi helps the Democrats.” Notes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4F4A"/>
                </a:solidFill>
                <a:latin typeface="Calibri"/>
              </a:rPr>
              <a:t>Kalpi  ·  pitch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F4F4A"/>
                </a:solidFill>
                <a:latin typeface="Calibri"/>
              </a:rPr>
              <a:t>22  /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