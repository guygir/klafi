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F4A"/>
                </a:solidFill>
                <a:latin typeface="Calibri"/>
              </a:rPr>
              <a:t>VERSION B  ·  THE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0">
                <a:solidFill>
                  <a:srgbClr val="1A1F1C"/>
                </a:solidFill>
                <a:latin typeface="Georgia"/>
              </a:rPr>
              <a:t>Who does not reach the kalpi.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F1C"/>
                </a:solidFill>
                <a:latin typeface="Calibri"/>
              </a:rPr>
              <a:t>And a pack of cards that might change that before 27 October.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F4A"/>
                </a:solidFill>
                <a:latin typeface="Calibri"/>
              </a:rPr>
              <a:t>Kalpi  ·  story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1F4F4A"/>
                </a:solidFill>
                <a:latin typeface="Calibri"/>
              </a:rPr>
              <a:t>1  / 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F4A"/>
                </a:solidFill>
                <a:latin typeface="Calibri"/>
              </a:rPr>
              <a:t>THE LAST OFFICIAL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0">
                <a:solidFill>
                  <a:srgbClr val="1F4F4A"/>
                </a:solidFill>
                <a:latin typeface="Georgia"/>
              </a:rPr>
              <a:t>46.7%</a:t>
            </a:r>
          </a:p>
          <a:p>
            <a:r>
              <a:rPr sz="2200" b="0">
                <a:solidFill>
                  <a:srgbClr val="1A1F1C"/>
                </a:solidFill>
                <a:latin typeface="Calibri"/>
              </a:rPr>
              <a:t>of 18–24s voted after 2021.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0">
                <a:solidFill>
                  <a:srgbClr val="1F4F4A"/>
                </a:solidFill>
                <a:latin typeface="Georgia"/>
              </a:rPr>
              <a:t>74.9%</a:t>
            </a:r>
          </a:p>
          <a:p>
            <a:r>
              <a:rPr sz="2200" b="0">
                <a:solidFill>
                  <a:srgbClr val="1A1F1C"/>
                </a:solidFill>
                <a:latin typeface="Calibri"/>
              </a:rPr>
              <a:t>of 65–74s did.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F1C"/>
                </a:solidFill>
                <a:latin typeface="Calibri"/>
              </a:rPr>
              <a:t>Knesset Research and Information Center, 2022.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F4A"/>
                </a:solidFill>
                <a:latin typeface="Calibri"/>
              </a:rPr>
              <a:t>Kalpi  ·  story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1F4F4A"/>
                </a:solidFill>
                <a:latin typeface="Calibri"/>
              </a:rPr>
              <a:t>2  / 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F4A"/>
                </a:solidFill>
                <a:latin typeface="Calibri"/>
              </a:rPr>
              <a:t>THAT IS THE 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>
                <a:solidFill>
                  <a:srgbClr val="1A1F1C"/>
                </a:solidFill>
                <a:latin typeface="Georgia"/>
              </a:rPr>
              <a:t>Not a vibe. A 28-point age gap.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F1C"/>
                </a:solidFill>
                <a:latin typeface="Calibri"/>
              </a:rPr>
              <a:t>National turnout in 2022 was 70.6%. Young adults are a different electorate. The youth rate has been rising, and they vote more than young Europeans. The gap with older Israelis is still the 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F4A"/>
                </a:solidFill>
                <a:latin typeface="Calibri"/>
              </a:rPr>
              <a:t>Kalpi  ·  story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1F4F4A"/>
                </a:solidFill>
                <a:latin typeface="Calibri"/>
              </a:rPr>
              <a:t>3  / 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F4A"/>
                </a:solidFill>
                <a:latin typeface="Calibri"/>
              </a:rPr>
              <a:t>THIS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0">
                <a:solidFill>
                  <a:srgbClr val="1F4F4A"/>
                </a:solidFill>
                <a:latin typeface="Georgia"/>
              </a:rPr>
              <a:t>~600k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A1F1C"/>
                </a:solidFill>
                <a:latin typeface="Georgia"/>
              </a:rPr>
              <a:t>first-timers. About six seats.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F1C"/>
                </a:solidFill>
                <a:latin typeface="Calibri"/>
              </a:rPr>
              <a:t>595–640 thousand people aged 18–22. 8.7% of the roll. Election day 27 October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F4A"/>
                </a:solidFill>
                <a:latin typeface="Calibri"/>
              </a:rPr>
              <a:t>Kalpi  ·  story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1F4F4A"/>
                </a:solidFill>
                <a:latin typeface="Calibri"/>
              </a:rPr>
              <a:t>4  / 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F4A"/>
                </a:solidFill>
                <a:latin typeface="Calibri"/>
              </a:rPr>
              <a:t>THE HEADLINE YOU WILL HEAR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A1F1C"/>
                </a:solidFill>
                <a:latin typeface="Georgia"/>
              </a:rPr>
              <a:t>“This year they say they will vote.”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F1C"/>
                </a:solidFill>
                <a:latin typeface="Calibri"/>
              </a:rPr>
              <a:t>IDI, May 2026: 80–95% of first-timers intend to. Hold that number. It is not a forecast.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F4A"/>
                </a:solidFill>
                <a:latin typeface="Calibri"/>
              </a:rPr>
              <a:t>Kalpi  ·  story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1F4F4A"/>
                </a:solidFill>
                <a:latin typeface="Calibri"/>
              </a:rPr>
              <a:t>5  / 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F4A"/>
                </a:solidFill>
                <a:latin typeface="Calibri"/>
              </a:rPr>
              <a:t>BECAUSE SURVEYS ALWAYS LOOK LIKE THAT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solidFill>
                  <a:srgbClr val="1A1F1C"/>
                </a:solidFill>
                <a:latin typeface="Georgia"/>
              </a:rPr>
              <a:t>2013: 88% intended. 92% later said they voted. 67.8% actually did.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F1C"/>
                </a:solidFill>
                <a:latin typeface="Calibri"/>
              </a:rPr>
              <a:t>Same institute (IDI). Ages 18–22 were already the most likely to stay home. Vote questions run hot. Official counts do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F4A"/>
                </a:solidFill>
                <a:latin typeface="Calibri"/>
              </a:rPr>
              <a:t>Kalpi  ·  story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1F4F4A"/>
                </a:solidFill>
                <a:latin typeface="Calibri"/>
              </a:rPr>
              <a:t>6  / 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F4A"/>
                </a:solidFill>
                <a:latin typeface="Calibri"/>
              </a:rPr>
              <a:t>WORKING ASSUMPTION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>
                <a:solidFill>
                  <a:srgbClr val="1A1F1C"/>
                </a:solidFill>
                <a:latin typeface="Georgia"/>
              </a:rPr>
              <a:t>Youth turnout will still be 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F1C"/>
                </a:solidFill>
                <a:latin typeface="Calibri"/>
              </a:rPr>
              <a:t>Even if 2026 is a few points above 46.7%, it is still low versus older adults. Then the second job: the slip has to be informed.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F4A"/>
                </a:solidFill>
                <a:latin typeface="Calibri"/>
              </a:rPr>
              <a:t>Kalpi  ·  story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1F4F4A"/>
                </a:solidFill>
                <a:latin typeface="Calibri"/>
              </a:rPr>
              <a:t>7  / 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F4A"/>
                </a:solidFill>
                <a:latin typeface="Calibri"/>
              </a:rPr>
              <a:t>THE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A1F1C"/>
                </a:solidFill>
                <a:latin typeface="Georgia"/>
              </a:rPr>
              <a:t>18–24. First-timers. Feed politics.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F1C"/>
                </a:solidFill>
                <a:latin typeface="Calibri"/>
              </a:rPr>
              <a:t>Social is their #1 political source. Most do not seek it. They distrust parties. They do not live in manifesto PDFs.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F4A"/>
                </a:solidFill>
                <a:latin typeface="Calibri"/>
              </a:rPr>
              <a:t>Kalpi  ·  story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1F4F4A"/>
                </a:solidFill>
                <a:latin typeface="Calibri"/>
              </a:rPr>
              <a:t>8  / 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F4A"/>
                </a:solidFill>
                <a:latin typeface="Calibri"/>
              </a:rPr>
              <a:t>WHAT CHARACTERIZES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A1F1C"/>
                </a:solidFill>
                <a:latin typeface="Georgia"/>
              </a:rPr>
              <a:t>47 seconds. Dopamine. Viral or invisible.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F1C"/>
                </a:solidFill>
                <a:latin typeface="Calibri"/>
              </a:rPr>
              <a:t>Gloria Mark: average screen focus is 47 seconds, median 40. Age of wars and TikTok. If it is not a daily loop, it is a lecture they will not finish.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F4A"/>
                </a:solidFill>
                <a:latin typeface="Calibri"/>
              </a:rPr>
              <a:t>Kalpi  ·  story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1F4F4A"/>
                </a:solidFill>
                <a:latin typeface="Calibri"/>
              </a:rPr>
              <a:t>9  / 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F4A"/>
                </a:solidFill>
                <a:latin typeface="Calibri"/>
              </a:rPr>
              <a:t>WHAT ALREADY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>
                <a:solidFill>
                  <a:srgbClr val="1A1F1C"/>
                </a:solidFill>
                <a:latin typeface="Georgia"/>
              </a:rPr>
              <a:t>They already collect cards.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F1C"/>
                </a:solidFill>
                <a:latin typeface="Calibri"/>
              </a:rPr>
              <a:t>Pokémon TCG Pocket is collection-first, global, daily rips. State Makers sold out a 98-card Israeli history set. We point that format at this election.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F4A"/>
                </a:solidFill>
                <a:latin typeface="Calibri"/>
              </a:rPr>
              <a:t>Kalpi  ·  story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1F4F4A"/>
                </a:solidFill>
                <a:latin typeface="Calibri"/>
              </a:rPr>
              <a:t>10  / 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F4A"/>
                </a:solidFill>
                <a:latin typeface="Calibri"/>
              </a:rPr>
              <a:t>THEREFORE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0">
                <a:solidFill>
                  <a:srgbClr val="1A1F1C"/>
                </a:solidFill>
                <a:latin typeface="Georgia"/>
              </a:rPr>
              <a:t>Kalpi.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F1C"/>
                </a:solidFill>
                <a:latin typeface="Calibri"/>
              </a:rPr>
              <a:t>A free digital collect-only TCG of the lists. Daily pack. The rip is bait. The back is the lesson. Show up on 27 October.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F4A"/>
                </a:solidFill>
                <a:latin typeface="Calibri"/>
              </a:rPr>
              <a:t>Kalpi  ·  story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1F4F4A"/>
                </a:solidFill>
                <a:latin typeface="Calibri"/>
              </a:rPr>
              <a:t>11  / 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F4A"/>
                </a:solidFill>
                <a:latin typeface="Calibri"/>
              </a:rPr>
              <a:t>THE RIP</a:t>
            </a:r>
          </a:p>
        </p:txBody>
      </p:sp>
      <p:pic>
        <p:nvPicPr>
          <p:cNvPr id="3" name="Picture 2" descr="hero-art-kal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2103120" cy="2944368"/>
          </a:xfrm>
          <a:prstGeom prst="rect">
            <a:avLst/>
          </a:prstGeom>
        </p:spPr>
      </p:pic>
      <p:pic>
        <p:nvPicPr>
          <p:cNvPr id="4" name="Picture 3" descr="hero-art-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79" y="1188720"/>
            <a:ext cx="2103120" cy="2944368"/>
          </a:xfrm>
          <a:prstGeom prst="rect">
            <a:avLst/>
          </a:prstGeom>
        </p:spPr>
      </p:pic>
      <p:pic>
        <p:nvPicPr>
          <p:cNvPr id="5" name="Picture 4" descr="hero-art-memchetlam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188720"/>
            <a:ext cx="2103120" cy="2944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38912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F1C"/>
                </a:solidFill>
                <a:latin typeface="Calibri"/>
              </a:rPr>
              <a:t>Collect only. Equal sets. No lore. No battles. Flip the back — that beat is the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F4A"/>
                </a:solidFill>
                <a:latin typeface="Calibri"/>
              </a:rPr>
              <a:t>Kalpi  ·  story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1F4F4A"/>
                </a:solidFill>
                <a:latin typeface="Calibri"/>
              </a:rPr>
              <a:t>12  / 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F4A"/>
                </a:solidFill>
                <a:latin typeface="Calibri"/>
              </a:rPr>
              <a:t>ON THE 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A1F1C"/>
                </a:solidFill>
                <a:latin typeface="Georgia"/>
              </a:rPr>
              <a:t>Yes, it is AI. The election is in eight weeks.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F1C"/>
                </a:solidFill>
                <a:latin typeface="Calibri"/>
              </a:rPr>
              <a:t>This community often prefers hand-made art. We are not claiming AI is more original. Lists file 9 September. Virality needs weeks. Hand-painting every member of every list is how you miss October. The cause is the deadline.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F4A"/>
                </a:solidFill>
                <a:latin typeface="Calibri"/>
              </a:rPr>
              <a:t>Kalpi  ·  story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1F4F4A"/>
                </a:solidFill>
                <a:latin typeface="Calibri"/>
              </a:rPr>
              <a:t>13  /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4F4A"/>
                </a:solidFill>
                <a:latin typeface="Calibri"/>
              </a:rPr>
              <a:t>27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A1F1C"/>
                </a:solidFill>
                <a:latin typeface="Georgia"/>
              </a:rPr>
              <a:t>Assume the gap. Then give them a pack they will open.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F1C"/>
                </a:solidFill>
                <a:latin typeface="Calibri"/>
              </a:rPr>
              <a:t>Official youth turnout has been 46.7%. Surveys will always say 90. Free. Equal. Informed slip. Then show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4F4A"/>
                </a:solidFill>
                <a:latin typeface="Calibri"/>
              </a:rPr>
              <a:t>Kalpi  ·  story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1F4F4A"/>
                </a:solidFill>
                <a:latin typeface="Calibri"/>
              </a:rPr>
              <a:t>14  /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