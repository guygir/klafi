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4EFE4"/>
        </a:solidFill>
        <a:effectLst/>
      </p:bgPr>
    </p:bg>
    <p:spTree>
      <p:nvGrpSpPr>
        <p:cNvPr id="1" name=""/>
        <p:cNvGrpSpPr/>
        <p:nvPr/>
      </p:nvGrpSpPr>
      <p:grpSpPr/>
      <p:sp>
        <p:nvSpPr>
          <p:cNvPr id="2" name="TextBox 1"/>
          <p:cNvSpPr txBox="1"/>
          <p:nvPr/>
        </p:nvSpPr>
        <p:spPr>
          <a:xfrm>
            <a:off x="822960" y="411480"/>
            <a:ext cx="10515600" cy="365760"/>
          </a:xfrm>
          <a:prstGeom prst="rect">
            <a:avLst/>
          </a:prstGeom>
          <a:noFill/>
        </p:spPr>
        <p:txBody>
          <a:bodyPr wrap="none">
            <a:spAutoFit/>
          </a:bodyPr>
          <a:lstStyle/>
          <a:p>
            <a:r>
              <a:rPr sz="1300" b="1">
                <a:solidFill>
                  <a:srgbClr val="1F4F4A"/>
                </a:solidFill>
                <a:latin typeface="Calibri"/>
              </a:rPr>
              <a:t>ISRAELI ELECTIONS 2026</a:t>
            </a:r>
          </a:p>
        </p:txBody>
      </p:sp>
      <p:sp>
        <p:nvSpPr>
          <p:cNvPr id="3" name="TextBox 2"/>
          <p:cNvSpPr txBox="1"/>
          <p:nvPr/>
        </p:nvSpPr>
        <p:spPr>
          <a:xfrm>
            <a:off x="822960" y="1188720"/>
            <a:ext cx="10515600" cy="2286000"/>
          </a:xfrm>
          <a:prstGeom prst="rect">
            <a:avLst/>
          </a:prstGeom>
          <a:noFill/>
        </p:spPr>
        <p:txBody>
          <a:bodyPr wrap="square">
            <a:spAutoFit/>
          </a:bodyPr>
          <a:lstStyle/>
          <a:p>
            <a:r>
              <a:rPr sz="4800" b="0">
                <a:solidFill>
                  <a:srgbClr val="1A1F1C"/>
                </a:solidFill>
                <a:latin typeface="Georgia"/>
              </a:rPr>
              <a:t>Who does not reach the kalpi.</a:t>
            </a:r>
          </a:p>
        </p:txBody>
      </p:sp>
      <p:sp>
        <p:nvSpPr>
          <p:cNvPr id="4" name="TextBox 3"/>
          <p:cNvSpPr txBox="1"/>
          <p:nvPr/>
        </p:nvSpPr>
        <p:spPr>
          <a:xfrm>
            <a:off x="822960" y="3566160"/>
            <a:ext cx="10241280" cy="2286000"/>
          </a:xfrm>
          <a:prstGeom prst="rect">
            <a:avLst/>
          </a:prstGeom>
          <a:noFill/>
        </p:spPr>
        <p:txBody>
          <a:bodyPr wrap="square">
            <a:spAutoFit/>
          </a:bodyPr>
          <a:lstStyle/>
          <a:p>
            <a:r>
              <a:rPr sz="2200" b="0">
                <a:solidFill>
                  <a:srgbClr val="1A1F1C"/>
                </a:solidFill>
                <a:latin typeface="Calibri"/>
              </a:rPr>
              <a:t>And why a pack of cards is the way to get them there — knowing who they are voting for.</a:t>
            </a:r>
          </a:p>
        </p:txBody>
      </p:sp>
      <p:sp>
        <p:nvSpPr>
          <p:cNvPr id="5" name="TextBox 4"/>
          <p:cNvSpPr txBox="1"/>
          <p:nvPr/>
        </p:nvSpPr>
        <p:spPr>
          <a:xfrm>
            <a:off x="822960" y="6446520"/>
            <a:ext cx="5486400" cy="274320"/>
          </a:xfrm>
          <a:prstGeom prst="rect">
            <a:avLst/>
          </a:prstGeom>
          <a:noFill/>
        </p:spPr>
        <p:txBody>
          <a:bodyPr wrap="none">
            <a:spAutoFit/>
          </a:bodyPr>
          <a:lstStyle/>
          <a:p>
            <a:r>
              <a:rPr sz="1200" b="0">
                <a:solidFill>
                  <a:srgbClr val="1F4F4A"/>
                </a:solidFill>
                <a:latin typeface="Calibri"/>
              </a:rPr>
              <a:t>Kalpi  ·  pitch</a:t>
            </a:r>
          </a:p>
        </p:txBody>
      </p:sp>
      <p:sp>
        <p:nvSpPr>
          <p:cNvPr id="6" name="TextBox 5"/>
          <p:cNvSpPr txBox="1"/>
          <p:nvPr/>
        </p:nvSpPr>
        <p:spPr>
          <a:xfrm>
            <a:off x="9509760" y="6446520"/>
            <a:ext cx="1828800" cy="274320"/>
          </a:xfrm>
          <a:prstGeom prst="rect">
            <a:avLst/>
          </a:prstGeom>
          <a:noFill/>
        </p:spPr>
        <p:txBody>
          <a:bodyPr wrap="none">
            <a:spAutoFit/>
          </a:bodyPr>
          <a:lstStyle/>
          <a:p>
            <a:pPr algn="r"/>
            <a:r>
              <a:rPr sz="1200" b="0">
                <a:solidFill>
                  <a:srgbClr val="1F4F4A"/>
                </a:solidFill>
                <a:latin typeface="Calibri"/>
              </a:rPr>
              <a:t>1  /  23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4EFE4"/>
        </a:solidFill>
        <a:effectLst/>
      </p:bgPr>
    </p:bg>
    <p:spTree>
      <p:nvGrpSpPr>
        <p:cNvPr id="1" name=""/>
        <p:cNvGrpSpPr/>
        <p:nvPr/>
      </p:nvGrpSpPr>
      <p:grpSpPr/>
      <p:sp>
        <p:nvSpPr>
          <p:cNvPr id="2" name="TextBox 1"/>
          <p:cNvSpPr txBox="1"/>
          <p:nvPr/>
        </p:nvSpPr>
        <p:spPr>
          <a:xfrm>
            <a:off x="822960" y="411480"/>
            <a:ext cx="10515600" cy="365760"/>
          </a:xfrm>
          <a:prstGeom prst="rect">
            <a:avLst/>
          </a:prstGeom>
          <a:noFill/>
        </p:spPr>
        <p:txBody>
          <a:bodyPr wrap="none">
            <a:spAutoFit/>
          </a:bodyPr>
          <a:lstStyle/>
          <a:p>
            <a:r>
              <a:rPr sz="1300" b="1">
                <a:solidFill>
                  <a:srgbClr val="1F4F4A"/>
                </a:solidFill>
                <a:latin typeface="Calibri"/>
              </a:rPr>
              <a:t>1  ·  VOTING %  ·  THE BACKGROUND</a:t>
            </a:r>
          </a:p>
        </p:txBody>
      </p:sp>
      <p:sp>
        <p:nvSpPr>
          <p:cNvPr id="3" name="TextBox 2"/>
          <p:cNvSpPr txBox="1"/>
          <p:nvPr/>
        </p:nvSpPr>
        <p:spPr>
          <a:xfrm>
            <a:off x="822960" y="1371600"/>
            <a:ext cx="5029200" cy="2743200"/>
          </a:xfrm>
          <a:prstGeom prst="rect">
            <a:avLst/>
          </a:prstGeom>
          <a:noFill/>
        </p:spPr>
        <p:txBody>
          <a:bodyPr wrap="square">
            <a:spAutoFit/>
          </a:bodyPr>
          <a:lstStyle/>
          <a:p>
            <a:r>
              <a:rPr sz="7200" b="0">
                <a:solidFill>
                  <a:srgbClr val="1F4F4A"/>
                </a:solidFill>
                <a:latin typeface="Georgia"/>
              </a:rPr>
              <a:t>46.7%</a:t>
            </a:r>
          </a:p>
          <a:p>
            <a:r>
              <a:rPr sz="2000" b="0">
                <a:solidFill>
                  <a:srgbClr val="1A1F1C"/>
                </a:solidFill>
                <a:latin typeface="Calibri"/>
              </a:rPr>
              <a:t>of 18–24s voted after 2021.</a:t>
            </a:r>
          </a:p>
        </p:txBody>
      </p:sp>
      <p:sp>
        <p:nvSpPr>
          <p:cNvPr id="4" name="TextBox 3"/>
          <p:cNvSpPr txBox="1"/>
          <p:nvPr/>
        </p:nvSpPr>
        <p:spPr>
          <a:xfrm>
            <a:off x="6400800" y="1371600"/>
            <a:ext cx="5029200" cy="2743200"/>
          </a:xfrm>
          <a:prstGeom prst="rect">
            <a:avLst/>
          </a:prstGeom>
          <a:noFill/>
        </p:spPr>
        <p:txBody>
          <a:bodyPr wrap="square">
            <a:spAutoFit/>
          </a:bodyPr>
          <a:lstStyle/>
          <a:p>
            <a:r>
              <a:rPr sz="7200" b="0">
                <a:solidFill>
                  <a:srgbClr val="1F4F4A"/>
                </a:solidFill>
                <a:latin typeface="Georgia"/>
              </a:rPr>
              <a:t>74.9%</a:t>
            </a:r>
          </a:p>
          <a:p>
            <a:r>
              <a:rPr sz="2000" b="0">
                <a:solidFill>
                  <a:srgbClr val="1A1F1C"/>
                </a:solidFill>
                <a:latin typeface="Calibri"/>
              </a:rPr>
              <a:t>of 65–74s did.</a:t>
            </a:r>
          </a:p>
        </p:txBody>
      </p:sp>
      <p:sp>
        <p:nvSpPr>
          <p:cNvPr id="5" name="TextBox 4"/>
          <p:cNvSpPr txBox="1"/>
          <p:nvPr/>
        </p:nvSpPr>
        <p:spPr>
          <a:xfrm>
            <a:off x="822960" y="4937760"/>
            <a:ext cx="10241280" cy="2286000"/>
          </a:xfrm>
          <a:prstGeom prst="rect">
            <a:avLst/>
          </a:prstGeom>
          <a:noFill/>
        </p:spPr>
        <p:txBody>
          <a:bodyPr wrap="square">
            <a:spAutoFit/>
          </a:bodyPr>
          <a:lstStyle/>
          <a:p>
            <a:r>
              <a:rPr sz="1600" b="0">
                <a:solidFill>
                  <a:srgbClr val="1A1F1C"/>
                </a:solidFill>
                <a:latin typeface="Calibri"/>
              </a:rPr>
              <a:t>Knesset Research and Information Center. National turnout in 2022: 70.6%.</a:t>
            </a:r>
          </a:p>
        </p:txBody>
      </p:sp>
      <p:sp>
        <p:nvSpPr>
          <p:cNvPr id="6" name="TextBox 5"/>
          <p:cNvSpPr txBox="1"/>
          <p:nvPr/>
        </p:nvSpPr>
        <p:spPr>
          <a:xfrm>
            <a:off x="822960" y="6446520"/>
            <a:ext cx="5486400" cy="274320"/>
          </a:xfrm>
          <a:prstGeom prst="rect">
            <a:avLst/>
          </a:prstGeom>
          <a:noFill/>
        </p:spPr>
        <p:txBody>
          <a:bodyPr wrap="none">
            <a:spAutoFit/>
          </a:bodyPr>
          <a:lstStyle/>
          <a:p>
            <a:r>
              <a:rPr sz="1200" b="0">
                <a:solidFill>
                  <a:srgbClr val="1F4F4A"/>
                </a:solidFill>
                <a:latin typeface="Calibri"/>
              </a:rPr>
              <a:t>Kalpi  ·  pitch</a:t>
            </a:r>
          </a:p>
        </p:txBody>
      </p:sp>
      <p:sp>
        <p:nvSpPr>
          <p:cNvPr id="7" name="TextBox 6"/>
          <p:cNvSpPr txBox="1"/>
          <p:nvPr/>
        </p:nvSpPr>
        <p:spPr>
          <a:xfrm>
            <a:off x="9509760" y="6446520"/>
            <a:ext cx="1828800" cy="274320"/>
          </a:xfrm>
          <a:prstGeom prst="rect">
            <a:avLst/>
          </a:prstGeom>
          <a:noFill/>
        </p:spPr>
        <p:txBody>
          <a:bodyPr wrap="none">
            <a:spAutoFit/>
          </a:bodyPr>
          <a:lstStyle/>
          <a:p>
            <a:pPr algn="r"/>
            <a:r>
              <a:rPr sz="1200" b="0">
                <a:solidFill>
                  <a:srgbClr val="1F4F4A"/>
                </a:solidFill>
                <a:latin typeface="Calibri"/>
              </a:rPr>
              <a:t>2  /  23</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4EFE4"/>
        </a:solidFill>
        <a:effectLst/>
      </p:bgPr>
    </p:bg>
    <p:spTree>
      <p:nvGrpSpPr>
        <p:cNvPr id="1" name=""/>
        <p:cNvGrpSpPr/>
        <p:nvPr/>
      </p:nvGrpSpPr>
      <p:grpSpPr/>
      <p:sp>
        <p:nvSpPr>
          <p:cNvPr id="2" name="TextBox 1"/>
          <p:cNvSpPr txBox="1"/>
          <p:nvPr/>
        </p:nvSpPr>
        <p:spPr>
          <a:xfrm>
            <a:off x="822960" y="411480"/>
            <a:ext cx="10515600" cy="365760"/>
          </a:xfrm>
          <a:prstGeom prst="rect">
            <a:avLst/>
          </a:prstGeom>
          <a:noFill/>
        </p:spPr>
        <p:txBody>
          <a:bodyPr wrap="none">
            <a:spAutoFit/>
          </a:bodyPr>
          <a:lstStyle/>
          <a:p>
            <a:r>
              <a:rPr sz="1300" b="1">
                <a:solidFill>
                  <a:srgbClr val="1F4F4A"/>
                </a:solidFill>
                <a:latin typeface="Calibri"/>
              </a:rPr>
              <a:t>WHY THAT NUMBER MATTERS</a:t>
            </a:r>
          </a:p>
        </p:txBody>
      </p:sp>
      <p:sp>
        <p:nvSpPr>
          <p:cNvPr id="3" name="TextBox 2"/>
          <p:cNvSpPr txBox="1"/>
          <p:nvPr/>
        </p:nvSpPr>
        <p:spPr>
          <a:xfrm>
            <a:off x="822960" y="1097280"/>
            <a:ext cx="10515600" cy="2286000"/>
          </a:xfrm>
          <a:prstGeom prst="rect">
            <a:avLst/>
          </a:prstGeom>
          <a:noFill/>
        </p:spPr>
        <p:txBody>
          <a:bodyPr wrap="square">
            <a:spAutoFit/>
          </a:bodyPr>
          <a:lstStyle/>
          <a:p>
            <a:r>
              <a:rPr sz="4000" b="0">
                <a:solidFill>
                  <a:srgbClr val="1A1F1C"/>
                </a:solidFill>
                <a:latin typeface="Georgia"/>
              </a:rPr>
              <a:t>A 28-point age gap. Not a vibe.</a:t>
            </a:r>
          </a:p>
        </p:txBody>
      </p:sp>
      <p:sp>
        <p:nvSpPr>
          <p:cNvPr id="4" name="TextBox 3"/>
          <p:cNvSpPr txBox="1"/>
          <p:nvPr/>
        </p:nvSpPr>
        <p:spPr>
          <a:xfrm>
            <a:off x="822960" y="3566160"/>
            <a:ext cx="10241280" cy="2286000"/>
          </a:xfrm>
          <a:prstGeom prst="rect">
            <a:avLst/>
          </a:prstGeom>
          <a:noFill/>
        </p:spPr>
        <p:txBody>
          <a:bodyPr wrap="square">
            <a:spAutoFit/>
          </a:bodyPr>
          <a:lstStyle/>
          <a:p>
            <a:r>
              <a:rPr sz="2200" b="0">
                <a:solidFill>
                  <a:srgbClr val="1A1F1C"/>
                </a:solidFill>
                <a:latin typeface="Calibri"/>
              </a:rPr>
              <a:t>Young Israelis vote more than young Europeans, and the youth rate has been rising. They still vote far less than older Israelis. That is the issue we are in the room for.</a:t>
            </a:r>
          </a:p>
        </p:txBody>
      </p:sp>
      <p:sp>
        <p:nvSpPr>
          <p:cNvPr id="5" name="TextBox 4"/>
          <p:cNvSpPr txBox="1"/>
          <p:nvPr/>
        </p:nvSpPr>
        <p:spPr>
          <a:xfrm>
            <a:off x="822960" y="6446520"/>
            <a:ext cx="5486400" cy="274320"/>
          </a:xfrm>
          <a:prstGeom prst="rect">
            <a:avLst/>
          </a:prstGeom>
          <a:noFill/>
        </p:spPr>
        <p:txBody>
          <a:bodyPr wrap="none">
            <a:spAutoFit/>
          </a:bodyPr>
          <a:lstStyle/>
          <a:p>
            <a:r>
              <a:rPr sz="1200" b="0">
                <a:solidFill>
                  <a:srgbClr val="1F4F4A"/>
                </a:solidFill>
                <a:latin typeface="Calibri"/>
              </a:rPr>
              <a:t>Kalpi  ·  pitch</a:t>
            </a:r>
          </a:p>
        </p:txBody>
      </p:sp>
      <p:sp>
        <p:nvSpPr>
          <p:cNvPr id="6" name="TextBox 5"/>
          <p:cNvSpPr txBox="1"/>
          <p:nvPr/>
        </p:nvSpPr>
        <p:spPr>
          <a:xfrm>
            <a:off x="9509760" y="6446520"/>
            <a:ext cx="1828800" cy="274320"/>
          </a:xfrm>
          <a:prstGeom prst="rect">
            <a:avLst/>
          </a:prstGeom>
          <a:noFill/>
        </p:spPr>
        <p:txBody>
          <a:bodyPr wrap="none">
            <a:spAutoFit/>
          </a:bodyPr>
          <a:lstStyle/>
          <a:p>
            <a:pPr algn="r"/>
            <a:r>
              <a:rPr sz="1200" b="0">
                <a:solidFill>
                  <a:srgbClr val="1F4F4A"/>
                </a:solidFill>
                <a:latin typeface="Calibri"/>
              </a:rPr>
              <a:t>3  /  23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4EFE4"/>
        </a:solidFill>
        <a:effectLst/>
      </p:bgPr>
    </p:bg>
    <p:spTree>
      <p:nvGrpSpPr>
        <p:cNvPr id="1" name=""/>
        <p:cNvGrpSpPr/>
        <p:nvPr/>
      </p:nvGrpSpPr>
      <p:grpSpPr/>
      <p:sp>
        <p:nvSpPr>
          <p:cNvPr id="2" name="TextBox 1"/>
          <p:cNvSpPr txBox="1"/>
          <p:nvPr/>
        </p:nvSpPr>
        <p:spPr>
          <a:xfrm>
            <a:off x="822960" y="411480"/>
            <a:ext cx="10515600" cy="365760"/>
          </a:xfrm>
          <a:prstGeom prst="rect">
            <a:avLst/>
          </a:prstGeom>
          <a:noFill/>
        </p:spPr>
        <p:txBody>
          <a:bodyPr wrap="none">
            <a:spAutoFit/>
          </a:bodyPr>
          <a:lstStyle/>
          <a:p>
            <a:r>
              <a:rPr sz="1300" b="1">
                <a:solidFill>
                  <a:srgbClr val="1F4F4A"/>
                </a:solidFill>
                <a:latin typeface="Calibri"/>
              </a:rPr>
              <a:t>WHY IT MATTERS THIS YEAR</a:t>
            </a:r>
          </a:p>
        </p:txBody>
      </p:sp>
      <p:sp>
        <p:nvSpPr>
          <p:cNvPr id="3" name="TextBox 2"/>
          <p:cNvSpPr txBox="1"/>
          <p:nvPr/>
        </p:nvSpPr>
        <p:spPr>
          <a:xfrm>
            <a:off x="822960" y="1280160"/>
            <a:ext cx="10058400" cy="1371600"/>
          </a:xfrm>
          <a:prstGeom prst="rect">
            <a:avLst/>
          </a:prstGeom>
          <a:noFill/>
        </p:spPr>
        <p:txBody>
          <a:bodyPr wrap="none">
            <a:spAutoFit/>
          </a:bodyPr>
          <a:lstStyle/>
          <a:p>
            <a:r>
              <a:rPr sz="8000" b="0">
                <a:solidFill>
                  <a:srgbClr val="1F4F4A"/>
                </a:solidFill>
                <a:latin typeface="Georgia"/>
              </a:rPr>
              <a:t>~600k</a:t>
            </a:r>
          </a:p>
        </p:txBody>
      </p:sp>
      <p:sp>
        <p:nvSpPr>
          <p:cNvPr id="4" name="TextBox 3"/>
          <p:cNvSpPr txBox="1"/>
          <p:nvPr/>
        </p:nvSpPr>
        <p:spPr>
          <a:xfrm>
            <a:off x="822960" y="2834640"/>
            <a:ext cx="10515600" cy="1097280"/>
          </a:xfrm>
          <a:prstGeom prst="rect">
            <a:avLst/>
          </a:prstGeom>
          <a:noFill/>
        </p:spPr>
        <p:txBody>
          <a:bodyPr wrap="square">
            <a:spAutoFit/>
          </a:bodyPr>
          <a:lstStyle/>
          <a:p>
            <a:r>
              <a:rPr sz="4000" b="0">
                <a:solidFill>
                  <a:srgbClr val="1A1F1C"/>
                </a:solidFill>
                <a:latin typeface="Georgia"/>
              </a:rPr>
              <a:t>first-timers. About six seats.</a:t>
            </a:r>
          </a:p>
        </p:txBody>
      </p:sp>
      <p:sp>
        <p:nvSpPr>
          <p:cNvPr id="5" name="TextBox 4"/>
          <p:cNvSpPr txBox="1"/>
          <p:nvPr/>
        </p:nvSpPr>
        <p:spPr>
          <a:xfrm>
            <a:off x="822960" y="4206240"/>
            <a:ext cx="10241280" cy="2286000"/>
          </a:xfrm>
          <a:prstGeom prst="rect">
            <a:avLst/>
          </a:prstGeom>
          <a:noFill/>
        </p:spPr>
        <p:txBody>
          <a:bodyPr wrap="square">
            <a:spAutoFit/>
          </a:bodyPr>
          <a:lstStyle/>
          <a:p>
            <a:r>
              <a:rPr sz="2000" b="0">
                <a:solidFill>
                  <a:srgbClr val="1A1F1C"/>
                </a:solidFill>
                <a:latin typeface="Calibri"/>
              </a:rPr>
              <a:t>595–640 thousand people aged 18–22. 8.7% of the roll. Election day 27 October 2026.</a:t>
            </a:r>
          </a:p>
        </p:txBody>
      </p:sp>
      <p:sp>
        <p:nvSpPr>
          <p:cNvPr id="6" name="TextBox 5"/>
          <p:cNvSpPr txBox="1"/>
          <p:nvPr/>
        </p:nvSpPr>
        <p:spPr>
          <a:xfrm>
            <a:off x="822960" y="6446520"/>
            <a:ext cx="5486400" cy="274320"/>
          </a:xfrm>
          <a:prstGeom prst="rect">
            <a:avLst/>
          </a:prstGeom>
          <a:noFill/>
        </p:spPr>
        <p:txBody>
          <a:bodyPr wrap="none">
            <a:spAutoFit/>
          </a:bodyPr>
          <a:lstStyle/>
          <a:p>
            <a:r>
              <a:rPr sz="1200" b="0">
                <a:solidFill>
                  <a:srgbClr val="1F4F4A"/>
                </a:solidFill>
                <a:latin typeface="Calibri"/>
              </a:rPr>
              <a:t>Kalpi  ·  pitch</a:t>
            </a:r>
          </a:p>
        </p:txBody>
      </p:sp>
      <p:sp>
        <p:nvSpPr>
          <p:cNvPr id="7" name="TextBox 6"/>
          <p:cNvSpPr txBox="1"/>
          <p:nvPr/>
        </p:nvSpPr>
        <p:spPr>
          <a:xfrm>
            <a:off x="9509760" y="6446520"/>
            <a:ext cx="1828800" cy="274320"/>
          </a:xfrm>
          <a:prstGeom prst="rect">
            <a:avLst/>
          </a:prstGeom>
          <a:noFill/>
        </p:spPr>
        <p:txBody>
          <a:bodyPr wrap="none">
            <a:spAutoFit/>
          </a:bodyPr>
          <a:lstStyle/>
          <a:p>
            <a:pPr algn="r"/>
            <a:r>
              <a:rPr sz="1200" b="0">
                <a:solidFill>
                  <a:srgbClr val="1F4F4A"/>
                </a:solidFill>
                <a:latin typeface="Calibri"/>
              </a:rPr>
              <a:t>4  /  23</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4EFE4"/>
        </a:solidFill>
        <a:effectLst/>
      </p:bgPr>
    </p:bg>
    <p:spTree>
      <p:nvGrpSpPr>
        <p:cNvPr id="1" name=""/>
        <p:cNvGrpSpPr/>
        <p:nvPr/>
      </p:nvGrpSpPr>
      <p:grpSpPr/>
      <p:sp>
        <p:nvSpPr>
          <p:cNvPr id="2" name="TextBox 1"/>
          <p:cNvSpPr txBox="1"/>
          <p:nvPr/>
        </p:nvSpPr>
        <p:spPr>
          <a:xfrm>
            <a:off x="822960" y="411480"/>
            <a:ext cx="10515600" cy="365760"/>
          </a:xfrm>
          <a:prstGeom prst="rect">
            <a:avLst/>
          </a:prstGeom>
          <a:noFill/>
        </p:spPr>
        <p:txBody>
          <a:bodyPr wrap="none">
            <a:spAutoFit/>
          </a:bodyPr>
          <a:lstStyle/>
          <a:p>
            <a:r>
              <a:rPr sz="1300" b="1">
                <a:solidFill>
                  <a:srgbClr val="1F4F4A"/>
                </a:solidFill>
                <a:latin typeface="Calibri"/>
              </a:rPr>
              <a:t>“BUT THEY SAY THEY WILL VOTE”</a:t>
            </a:r>
          </a:p>
        </p:txBody>
      </p:sp>
      <p:sp>
        <p:nvSpPr>
          <p:cNvPr id="3" name="TextBox 2"/>
          <p:cNvSpPr txBox="1"/>
          <p:nvPr/>
        </p:nvSpPr>
        <p:spPr>
          <a:xfrm>
            <a:off x="822960" y="1097280"/>
            <a:ext cx="10515600" cy="1645920"/>
          </a:xfrm>
          <a:prstGeom prst="rect">
            <a:avLst/>
          </a:prstGeom>
          <a:noFill/>
        </p:spPr>
        <p:txBody>
          <a:bodyPr wrap="square">
            <a:spAutoFit/>
          </a:bodyPr>
          <a:lstStyle/>
          <a:p>
            <a:r>
              <a:rPr sz="3600" b="0">
                <a:solidFill>
                  <a:srgbClr val="1A1F1C"/>
                </a:solidFill>
                <a:latin typeface="Georgia"/>
              </a:rPr>
              <a:t>80–95% intend to. That is not a forecast.</a:t>
            </a:r>
          </a:p>
        </p:txBody>
      </p:sp>
      <p:sp>
        <p:nvSpPr>
          <p:cNvPr id="4" name="TextBox 3"/>
          <p:cNvSpPr txBox="1"/>
          <p:nvPr/>
        </p:nvSpPr>
        <p:spPr>
          <a:xfrm>
            <a:off x="822960" y="3108960"/>
            <a:ext cx="10241280" cy="2286000"/>
          </a:xfrm>
          <a:prstGeom prst="rect">
            <a:avLst/>
          </a:prstGeom>
          <a:noFill/>
        </p:spPr>
        <p:txBody>
          <a:bodyPr wrap="square">
            <a:spAutoFit/>
          </a:bodyPr>
          <a:lstStyle/>
          <a:p>
            <a:r>
              <a:rPr sz="2200" b="0">
                <a:solidFill>
                  <a:srgbClr val="1A1F1C"/>
                </a:solidFill>
                <a:latin typeface="Calibri"/>
              </a:rPr>
              <a:t>IDI, May 2026. In 2013 the same institute saw ~88% intend, ~92% later say they voted — official turnout was 67.8%. Ages 18–22 were already the most likely to stay home.</a:t>
            </a:r>
          </a:p>
        </p:txBody>
      </p:sp>
      <p:sp>
        <p:nvSpPr>
          <p:cNvPr id="5" name="TextBox 4"/>
          <p:cNvSpPr txBox="1"/>
          <p:nvPr/>
        </p:nvSpPr>
        <p:spPr>
          <a:xfrm>
            <a:off x="822960" y="6446520"/>
            <a:ext cx="5486400" cy="274320"/>
          </a:xfrm>
          <a:prstGeom prst="rect">
            <a:avLst/>
          </a:prstGeom>
          <a:noFill/>
        </p:spPr>
        <p:txBody>
          <a:bodyPr wrap="none">
            <a:spAutoFit/>
          </a:bodyPr>
          <a:lstStyle/>
          <a:p>
            <a:r>
              <a:rPr sz="1200" b="0">
                <a:solidFill>
                  <a:srgbClr val="1F4F4A"/>
                </a:solidFill>
                <a:latin typeface="Calibri"/>
              </a:rPr>
              <a:t>Kalpi  ·  pitch</a:t>
            </a:r>
          </a:p>
        </p:txBody>
      </p:sp>
      <p:sp>
        <p:nvSpPr>
          <p:cNvPr id="6" name="TextBox 5"/>
          <p:cNvSpPr txBox="1"/>
          <p:nvPr/>
        </p:nvSpPr>
        <p:spPr>
          <a:xfrm>
            <a:off x="9509760" y="6446520"/>
            <a:ext cx="1828800" cy="274320"/>
          </a:xfrm>
          <a:prstGeom prst="rect">
            <a:avLst/>
          </a:prstGeom>
          <a:noFill/>
        </p:spPr>
        <p:txBody>
          <a:bodyPr wrap="none">
            <a:spAutoFit/>
          </a:bodyPr>
          <a:lstStyle/>
          <a:p>
            <a:pPr algn="r"/>
            <a:r>
              <a:rPr sz="1200" b="0">
                <a:solidFill>
                  <a:srgbClr val="1F4F4A"/>
                </a:solidFill>
                <a:latin typeface="Calibri"/>
              </a:rPr>
              <a:t>5  /  23</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4EFE4"/>
        </a:solidFill>
        <a:effectLst/>
      </p:bgPr>
    </p:bg>
    <p:spTree>
      <p:nvGrpSpPr>
        <p:cNvPr id="1" name=""/>
        <p:cNvGrpSpPr/>
        <p:nvPr/>
      </p:nvGrpSpPr>
      <p:grpSpPr/>
      <p:sp>
        <p:nvSpPr>
          <p:cNvPr id="2" name="TextBox 1"/>
          <p:cNvSpPr txBox="1"/>
          <p:nvPr/>
        </p:nvSpPr>
        <p:spPr>
          <a:xfrm>
            <a:off x="822960" y="411480"/>
            <a:ext cx="10515600" cy="365760"/>
          </a:xfrm>
          <a:prstGeom prst="rect">
            <a:avLst/>
          </a:prstGeom>
          <a:noFill/>
        </p:spPr>
        <p:txBody>
          <a:bodyPr wrap="none">
            <a:spAutoFit/>
          </a:bodyPr>
          <a:lstStyle/>
          <a:p>
            <a:r>
              <a:rPr sz="1300" b="1">
                <a:solidFill>
                  <a:srgbClr val="1F4F4A"/>
                </a:solidFill>
                <a:latin typeface="Calibri"/>
              </a:rPr>
              <a:t>WORKING ASSUMPTION</a:t>
            </a:r>
          </a:p>
        </p:txBody>
      </p:sp>
      <p:sp>
        <p:nvSpPr>
          <p:cNvPr id="3" name="TextBox 2"/>
          <p:cNvSpPr txBox="1"/>
          <p:nvPr/>
        </p:nvSpPr>
        <p:spPr>
          <a:xfrm>
            <a:off x="822960" y="1097280"/>
            <a:ext cx="10515600" cy="2286000"/>
          </a:xfrm>
          <a:prstGeom prst="rect">
            <a:avLst/>
          </a:prstGeom>
          <a:noFill/>
        </p:spPr>
        <p:txBody>
          <a:bodyPr wrap="square">
            <a:spAutoFit/>
          </a:bodyPr>
          <a:lstStyle/>
          <a:p>
            <a:r>
              <a:rPr sz="4000" b="0">
                <a:solidFill>
                  <a:srgbClr val="1A1F1C"/>
                </a:solidFill>
                <a:latin typeface="Georgia"/>
              </a:rPr>
              <a:t>Youth turnout will still be low.</a:t>
            </a:r>
          </a:p>
        </p:txBody>
      </p:sp>
      <p:sp>
        <p:nvSpPr>
          <p:cNvPr id="4" name="TextBox 3"/>
          <p:cNvSpPr txBox="1"/>
          <p:nvPr/>
        </p:nvSpPr>
        <p:spPr>
          <a:xfrm>
            <a:off x="822960" y="3566160"/>
            <a:ext cx="10241280" cy="2286000"/>
          </a:xfrm>
          <a:prstGeom prst="rect">
            <a:avLst/>
          </a:prstGeom>
          <a:noFill/>
        </p:spPr>
        <p:txBody>
          <a:bodyPr wrap="square">
            <a:spAutoFit/>
          </a:bodyPr>
          <a:lstStyle/>
          <a:p>
            <a:r>
              <a:rPr sz="2200" b="0">
                <a:solidFill>
                  <a:srgbClr val="1A1F1C"/>
                </a:solidFill>
                <a:latin typeface="Calibri"/>
              </a:rPr>
              <a:t>Even if 2026 is a few points above 46.7%, it is still low versus older adults. And even the ones who show up often do not know the list. Two jobs: get them there, make the slip informed.</a:t>
            </a:r>
          </a:p>
        </p:txBody>
      </p:sp>
      <p:sp>
        <p:nvSpPr>
          <p:cNvPr id="5" name="TextBox 4"/>
          <p:cNvSpPr txBox="1"/>
          <p:nvPr/>
        </p:nvSpPr>
        <p:spPr>
          <a:xfrm>
            <a:off x="822960" y="6446520"/>
            <a:ext cx="5486400" cy="274320"/>
          </a:xfrm>
          <a:prstGeom prst="rect">
            <a:avLst/>
          </a:prstGeom>
          <a:noFill/>
        </p:spPr>
        <p:txBody>
          <a:bodyPr wrap="none">
            <a:spAutoFit/>
          </a:bodyPr>
          <a:lstStyle/>
          <a:p>
            <a:r>
              <a:rPr sz="1200" b="0">
                <a:solidFill>
                  <a:srgbClr val="1F4F4A"/>
                </a:solidFill>
                <a:latin typeface="Calibri"/>
              </a:rPr>
              <a:t>Kalpi  ·  pitch</a:t>
            </a:r>
          </a:p>
        </p:txBody>
      </p:sp>
      <p:sp>
        <p:nvSpPr>
          <p:cNvPr id="6" name="TextBox 5"/>
          <p:cNvSpPr txBox="1"/>
          <p:nvPr/>
        </p:nvSpPr>
        <p:spPr>
          <a:xfrm>
            <a:off x="9509760" y="6446520"/>
            <a:ext cx="1828800" cy="274320"/>
          </a:xfrm>
          <a:prstGeom prst="rect">
            <a:avLst/>
          </a:prstGeom>
          <a:noFill/>
        </p:spPr>
        <p:txBody>
          <a:bodyPr wrap="none">
            <a:spAutoFit/>
          </a:bodyPr>
          <a:lstStyle/>
          <a:p>
            <a:pPr algn="r"/>
            <a:r>
              <a:rPr sz="1200" b="0">
                <a:solidFill>
                  <a:srgbClr val="1F4F4A"/>
                </a:solidFill>
                <a:latin typeface="Calibri"/>
              </a:rPr>
              <a:t>6  /  23</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4EFE4"/>
        </a:solidFill>
        <a:effectLst/>
      </p:bgPr>
    </p:bg>
    <p:spTree>
      <p:nvGrpSpPr>
        <p:cNvPr id="1" name=""/>
        <p:cNvGrpSpPr/>
        <p:nvPr/>
      </p:nvGrpSpPr>
      <p:grpSpPr/>
      <p:sp>
        <p:nvSpPr>
          <p:cNvPr id="2" name="TextBox 1"/>
          <p:cNvSpPr txBox="1"/>
          <p:nvPr/>
        </p:nvSpPr>
        <p:spPr>
          <a:xfrm>
            <a:off x="822960" y="411480"/>
            <a:ext cx="10515600" cy="365760"/>
          </a:xfrm>
          <a:prstGeom prst="rect">
            <a:avLst/>
          </a:prstGeom>
          <a:noFill/>
        </p:spPr>
        <p:txBody>
          <a:bodyPr wrap="none">
            <a:spAutoFit/>
          </a:bodyPr>
          <a:lstStyle/>
          <a:p>
            <a:r>
              <a:rPr sz="1300" b="1">
                <a:solidFill>
                  <a:srgbClr val="1F4F4A"/>
                </a:solidFill>
                <a:latin typeface="Calibri"/>
              </a:rPr>
              <a:t>2  ·  THEY DO NOT KNOW WHO TO VOTE FOR</a:t>
            </a:r>
          </a:p>
        </p:txBody>
      </p:sp>
      <p:sp>
        <p:nvSpPr>
          <p:cNvPr id="3" name="TextBox 2"/>
          <p:cNvSpPr txBox="1"/>
          <p:nvPr/>
        </p:nvSpPr>
        <p:spPr>
          <a:xfrm>
            <a:off x="822960" y="1097280"/>
            <a:ext cx="10515600" cy="1280160"/>
          </a:xfrm>
          <a:prstGeom prst="rect">
            <a:avLst/>
          </a:prstGeom>
          <a:noFill/>
        </p:spPr>
        <p:txBody>
          <a:bodyPr wrap="square">
            <a:spAutoFit/>
          </a:bodyPr>
          <a:lstStyle/>
          <a:p>
            <a:r>
              <a:rPr sz="4400" b="0">
                <a:solidFill>
                  <a:srgbClr val="1A1F1C"/>
                </a:solidFill>
                <a:latin typeface="Georgia"/>
              </a:rPr>
              <a:t>“Bennett is a bro.”</a:t>
            </a:r>
          </a:p>
        </p:txBody>
      </p:sp>
      <p:sp>
        <p:nvSpPr>
          <p:cNvPr id="4" name="TextBox 3"/>
          <p:cNvSpPr txBox="1"/>
          <p:nvPr/>
        </p:nvSpPr>
        <p:spPr>
          <a:xfrm>
            <a:off x="822960" y="2560320"/>
            <a:ext cx="10241280" cy="2286000"/>
          </a:xfrm>
          <a:prstGeom prst="rect">
            <a:avLst/>
          </a:prstGeom>
          <a:noFill/>
        </p:spPr>
        <p:txBody>
          <a:bodyPr wrap="square">
            <a:spAutoFit/>
          </a:bodyPr>
          <a:lstStyle/>
          <a:p>
            <a:r>
              <a:rPr sz="2200" b="0">
                <a:solidFill>
                  <a:srgbClr val="1A1F1C"/>
                </a:solidFill>
                <a:latin typeface="Calibri"/>
              </a:rPr>
              <a:t>That was me. A vibe is not a platform. My little brother does not know who to vote for. Hadar Muchtar — same room. This is not a survey. This is the product.</a:t>
            </a:r>
          </a:p>
        </p:txBody>
      </p:sp>
      <p:sp>
        <p:nvSpPr>
          <p:cNvPr id="5" name="TextBox 4"/>
          <p:cNvSpPr txBox="1"/>
          <p:nvPr/>
        </p:nvSpPr>
        <p:spPr>
          <a:xfrm>
            <a:off x="822960" y="6446520"/>
            <a:ext cx="5486400" cy="274320"/>
          </a:xfrm>
          <a:prstGeom prst="rect">
            <a:avLst/>
          </a:prstGeom>
          <a:noFill/>
        </p:spPr>
        <p:txBody>
          <a:bodyPr wrap="none">
            <a:spAutoFit/>
          </a:bodyPr>
          <a:lstStyle/>
          <a:p>
            <a:r>
              <a:rPr sz="1200" b="0">
                <a:solidFill>
                  <a:srgbClr val="1F4F4A"/>
                </a:solidFill>
                <a:latin typeface="Calibri"/>
              </a:rPr>
              <a:t>Kalpi  ·  pitch</a:t>
            </a:r>
          </a:p>
        </p:txBody>
      </p:sp>
      <p:sp>
        <p:nvSpPr>
          <p:cNvPr id="6" name="TextBox 5"/>
          <p:cNvSpPr txBox="1"/>
          <p:nvPr/>
        </p:nvSpPr>
        <p:spPr>
          <a:xfrm>
            <a:off x="9509760" y="6446520"/>
            <a:ext cx="1828800" cy="274320"/>
          </a:xfrm>
          <a:prstGeom prst="rect">
            <a:avLst/>
          </a:prstGeom>
          <a:noFill/>
        </p:spPr>
        <p:txBody>
          <a:bodyPr wrap="none">
            <a:spAutoFit/>
          </a:bodyPr>
          <a:lstStyle/>
          <a:p>
            <a:pPr algn="r"/>
            <a:r>
              <a:rPr sz="1200" b="0">
                <a:solidFill>
                  <a:srgbClr val="1F4F4A"/>
                </a:solidFill>
                <a:latin typeface="Calibri"/>
              </a:rPr>
              <a:t>7  /  23</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4EFE4"/>
        </a:solidFill>
        <a:effectLst/>
      </p:bgPr>
    </p:bg>
    <p:spTree>
      <p:nvGrpSpPr>
        <p:cNvPr id="1" name=""/>
        <p:cNvGrpSpPr/>
        <p:nvPr/>
      </p:nvGrpSpPr>
      <p:grpSpPr/>
      <p:sp>
        <p:nvSpPr>
          <p:cNvPr id="2" name="TextBox 1"/>
          <p:cNvSpPr txBox="1"/>
          <p:nvPr/>
        </p:nvSpPr>
        <p:spPr>
          <a:xfrm>
            <a:off x="822960" y="411480"/>
            <a:ext cx="10515600" cy="365760"/>
          </a:xfrm>
          <a:prstGeom prst="rect">
            <a:avLst/>
          </a:prstGeom>
          <a:noFill/>
        </p:spPr>
        <p:txBody>
          <a:bodyPr wrap="none">
            <a:spAutoFit/>
          </a:bodyPr>
          <a:lstStyle/>
          <a:p>
            <a:r>
              <a:rPr sz="1300" b="1">
                <a:solidFill>
                  <a:srgbClr val="1F4F4A"/>
                </a:solidFill>
                <a:latin typeface="Calibri"/>
              </a:rPr>
              <a:t>THE YOUNG-VOTER PROBLEM</a:t>
            </a:r>
          </a:p>
        </p:txBody>
      </p:sp>
      <p:sp>
        <p:nvSpPr>
          <p:cNvPr id="3" name="TextBox 2"/>
          <p:cNvSpPr txBox="1"/>
          <p:nvPr/>
        </p:nvSpPr>
        <p:spPr>
          <a:xfrm>
            <a:off x="822960" y="1097280"/>
            <a:ext cx="10515600" cy="2011680"/>
          </a:xfrm>
          <a:prstGeom prst="rect">
            <a:avLst/>
          </a:prstGeom>
          <a:noFill/>
        </p:spPr>
        <p:txBody>
          <a:bodyPr wrap="square">
            <a:spAutoFit/>
          </a:bodyPr>
          <a:lstStyle/>
          <a:p>
            <a:r>
              <a:rPr sz="3200" b="0">
                <a:solidFill>
                  <a:srgbClr val="1A1F1C"/>
                </a:solidFill>
                <a:latin typeface="Georgia"/>
              </a:rPr>
              <a:t>Default to parents. Or don’t care. Or the feed decides.</a:t>
            </a:r>
          </a:p>
        </p:txBody>
      </p:sp>
      <p:sp>
        <p:nvSpPr>
          <p:cNvPr id="4" name="TextBox 3"/>
          <p:cNvSpPr txBox="1"/>
          <p:nvPr/>
        </p:nvSpPr>
        <p:spPr>
          <a:xfrm>
            <a:off x="822960" y="3291840"/>
            <a:ext cx="10241280" cy="2286000"/>
          </a:xfrm>
          <a:prstGeom prst="rect">
            <a:avLst/>
          </a:prstGeom>
          <a:noFill/>
        </p:spPr>
        <p:txBody>
          <a:bodyPr wrap="square">
            <a:spAutoFit/>
          </a:bodyPr>
          <a:lstStyle/>
          <a:p>
            <a:r>
              <a:rPr sz="2200" b="0">
                <a:solidFill>
                  <a:srgbClr val="1A1F1C"/>
                </a:solidFill>
                <a:latin typeface="Calibri"/>
              </a:rPr>
              <a:t>War. Load. Enough already. TikTok is full of viral fake news. Some are afraid to show an opinion — at least on one side. A lot of new voters. Not a PDF audience.</a:t>
            </a:r>
          </a:p>
        </p:txBody>
      </p:sp>
      <p:sp>
        <p:nvSpPr>
          <p:cNvPr id="5" name="TextBox 4"/>
          <p:cNvSpPr txBox="1"/>
          <p:nvPr/>
        </p:nvSpPr>
        <p:spPr>
          <a:xfrm>
            <a:off x="822960" y="6446520"/>
            <a:ext cx="5486400" cy="274320"/>
          </a:xfrm>
          <a:prstGeom prst="rect">
            <a:avLst/>
          </a:prstGeom>
          <a:noFill/>
        </p:spPr>
        <p:txBody>
          <a:bodyPr wrap="none">
            <a:spAutoFit/>
          </a:bodyPr>
          <a:lstStyle/>
          <a:p>
            <a:r>
              <a:rPr sz="1200" b="0">
                <a:solidFill>
                  <a:srgbClr val="1F4F4A"/>
                </a:solidFill>
                <a:latin typeface="Calibri"/>
              </a:rPr>
              <a:t>Kalpi  ·  pitch</a:t>
            </a:r>
          </a:p>
        </p:txBody>
      </p:sp>
      <p:sp>
        <p:nvSpPr>
          <p:cNvPr id="6" name="TextBox 5"/>
          <p:cNvSpPr txBox="1"/>
          <p:nvPr/>
        </p:nvSpPr>
        <p:spPr>
          <a:xfrm>
            <a:off x="9509760" y="6446520"/>
            <a:ext cx="1828800" cy="274320"/>
          </a:xfrm>
          <a:prstGeom prst="rect">
            <a:avLst/>
          </a:prstGeom>
          <a:noFill/>
        </p:spPr>
        <p:txBody>
          <a:bodyPr wrap="none">
            <a:spAutoFit/>
          </a:bodyPr>
          <a:lstStyle/>
          <a:p>
            <a:pPr algn="r"/>
            <a:r>
              <a:rPr sz="1200" b="0">
                <a:solidFill>
                  <a:srgbClr val="1F4F4A"/>
                </a:solidFill>
                <a:latin typeface="Calibri"/>
              </a:rPr>
              <a:t>8  /  23</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4EFE4"/>
        </a:solidFill>
        <a:effectLst/>
      </p:bgPr>
    </p:bg>
    <p:spTree>
      <p:nvGrpSpPr>
        <p:cNvPr id="1" name=""/>
        <p:cNvGrpSpPr/>
        <p:nvPr/>
      </p:nvGrpSpPr>
      <p:grpSpPr/>
      <p:sp>
        <p:nvSpPr>
          <p:cNvPr id="2" name="TextBox 1"/>
          <p:cNvSpPr txBox="1"/>
          <p:nvPr/>
        </p:nvSpPr>
        <p:spPr>
          <a:xfrm>
            <a:off x="822960" y="411480"/>
            <a:ext cx="10515600" cy="365760"/>
          </a:xfrm>
          <a:prstGeom prst="rect">
            <a:avLst/>
          </a:prstGeom>
          <a:noFill/>
        </p:spPr>
        <p:txBody>
          <a:bodyPr wrap="none">
            <a:spAutoFit/>
          </a:bodyPr>
          <a:lstStyle/>
          <a:p>
            <a:r>
              <a:rPr sz="1300" b="1">
                <a:solidFill>
                  <a:srgbClr val="1F4F4A"/>
                </a:solidFill>
                <a:latin typeface="Calibri"/>
              </a:rPr>
              <a:t>WHY NOT “ASK YOUR PARENTS”</a:t>
            </a:r>
          </a:p>
        </p:txBody>
      </p:sp>
      <p:sp>
        <p:nvSpPr>
          <p:cNvPr id="3" name="TextBox 2"/>
          <p:cNvSpPr txBox="1"/>
          <p:nvPr/>
        </p:nvSpPr>
        <p:spPr>
          <a:xfrm>
            <a:off x="822960" y="1097280"/>
            <a:ext cx="10515600" cy="2286000"/>
          </a:xfrm>
          <a:prstGeom prst="rect">
            <a:avLst/>
          </a:prstGeom>
          <a:noFill/>
        </p:spPr>
        <p:txBody>
          <a:bodyPr wrap="square">
            <a:spAutoFit/>
          </a:bodyPr>
          <a:lstStyle/>
          <a:p>
            <a:r>
              <a:rPr sz="4000" b="0">
                <a:solidFill>
                  <a:srgbClr val="1A1F1C"/>
                </a:solidFill>
                <a:latin typeface="Georgia"/>
              </a:rPr>
              <a:t>Rebellion. And they are invested.</a:t>
            </a:r>
          </a:p>
        </p:txBody>
      </p:sp>
      <p:sp>
        <p:nvSpPr>
          <p:cNvPr id="4" name="TextBox 3"/>
          <p:cNvSpPr txBox="1"/>
          <p:nvPr/>
        </p:nvSpPr>
        <p:spPr>
          <a:xfrm>
            <a:off x="822960" y="3566160"/>
            <a:ext cx="10241280" cy="2286000"/>
          </a:xfrm>
          <a:prstGeom prst="rect">
            <a:avLst/>
          </a:prstGeom>
          <a:noFill/>
        </p:spPr>
        <p:txBody>
          <a:bodyPr wrap="square">
            <a:spAutoFit/>
          </a:bodyPr>
          <a:lstStyle/>
          <a:p>
            <a:r>
              <a:rPr sz="2200" b="0">
                <a:solidFill>
                  <a:srgbClr val="1A1F1C"/>
                </a:solidFill>
                <a:latin typeface="Calibri"/>
              </a:rPr>
              <a:t>A parent lecture is the wrong teacher for this age. Parents are emotional and already decided. That is not a syllabus. That is a fight.</a:t>
            </a:r>
          </a:p>
        </p:txBody>
      </p:sp>
      <p:sp>
        <p:nvSpPr>
          <p:cNvPr id="5" name="TextBox 4"/>
          <p:cNvSpPr txBox="1"/>
          <p:nvPr/>
        </p:nvSpPr>
        <p:spPr>
          <a:xfrm>
            <a:off x="822960" y="6446520"/>
            <a:ext cx="5486400" cy="274320"/>
          </a:xfrm>
          <a:prstGeom prst="rect">
            <a:avLst/>
          </a:prstGeom>
          <a:noFill/>
        </p:spPr>
        <p:txBody>
          <a:bodyPr wrap="none">
            <a:spAutoFit/>
          </a:bodyPr>
          <a:lstStyle/>
          <a:p>
            <a:r>
              <a:rPr sz="1200" b="0">
                <a:solidFill>
                  <a:srgbClr val="1F4F4A"/>
                </a:solidFill>
                <a:latin typeface="Calibri"/>
              </a:rPr>
              <a:t>Kalpi  ·  pitch</a:t>
            </a:r>
          </a:p>
        </p:txBody>
      </p:sp>
      <p:sp>
        <p:nvSpPr>
          <p:cNvPr id="6" name="TextBox 5"/>
          <p:cNvSpPr txBox="1"/>
          <p:nvPr/>
        </p:nvSpPr>
        <p:spPr>
          <a:xfrm>
            <a:off x="9509760" y="6446520"/>
            <a:ext cx="1828800" cy="274320"/>
          </a:xfrm>
          <a:prstGeom prst="rect">
            <a:avLst/>
          </a:prstGeom>
          <a:noFill/>
        </p:spPr>
        <p:txBody>
          <a:bodyPr wrap="none">
            <a:spAutoFit/>
          </a:bodyPr>
          <a:lstStyle/>
          <a:p>
            <a:pPr algn="r"/>
            <a:r>
              <a:rPr sz="1200" b="0">
                <a:solidFill>
                  <a:srgbClr val="1F4F4A"/>
                </a:solidFill>
                <a:latin typeface="Calibri"/>
              </a:rPr>
              <a:t>9  /  23</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4EFE4"/>
        </a:solidFill>
        <a:effectLst/>
      </p:bgPr>
    </p:bg>
    <p:spTree>
      <p:nvGrpSpPr>
        <p:cNvPr id="1" name=""/>
        <p:cNvGrpSpPr/>
        <p:nvPr/>
      </p:nvGrpSpPr>
      <p:grpSpPr/>
      <p:sp>
        <p:nvSpPr>
          <p:cNvPr id="2" name="TextBox 1"/>
          <p:cNvSpPr txBox="1"/>
          <p:nvPr/>
        </p:nvSpPr>
        <p:spPr>
          <a:xfrm>
            <a:off x="822960" y="411480"/>
            <a:ext cx="10515600" cy="365760"/>
          </a:xfrm>
          <a:prstGeom prst="rect">
            <a:avLst/>
          </a:prstGeom>
          <a:noFill/>
        </p:spPr>
        <p:txBody>
          <a:bodyPr wrap="none">
            <a:spAutoFit/>
          </a:bodyPr>
          <a:lstStyle/>
          <a:p>
            <a:r>
              <a:rPr sz="1300" b="1">
                <a:solidFill>
                  <a:srgbClr val="1F4F4A"/>
                </a:solidFill>
                <a:latin typeface="Calibri"/>
              </a:rPr>
              <a:t>THE SOLUTION</a:t>
            </a:r>
          </a:p>
        </p:txBody>
      </p:sp>
      <p:sp>
        <p:nvSpPr>
          <p:cNvPr id="3" name="TextBox 2"/>
          <p:cNvSpPr txBox="1"/>
          <p:nvPr/>
        </p:nvSpPr>
        <p:spPr>
          <a:xfrm>
            <a:off x="822960" y="1097280"/>
            <a:ext cx="10515600" cy="1645920"/>
          </a:xfrm>
          <a:prstGeom prst="rect">
            <a:avLst/>
          </a:prstGeom>
          <a:noFill/>
        </p:spPr>
        <p:txBody>
          <a:bodyPr wrap="square">
            <a:spAutoFit/>
          </a:bodyPr>
          <a:lstStyle/>
          <a:p>
            <a:r>
              <a:rPr sz="4000" b="0">
                <a:solidFill>
                  <a:srgbClr val="1A1F1C"/>
                </a:solidFill>
                <a:latin typeface="Georgia"/>
              </a:rPr>
              <a:t>Political literacy. A smart vote.</a:t>
            </a:r>
          </a:p>
        </p:txBody>
      </p:sp>
      <p:sp>
        <p:nvSpPr>
          <p:cNvPr id="4" name="TextBox 3"/>
          <p:cNvSpPr txBox="1"/>
          <p:nvPr/>
        </p:nvSpPr>
        <p:spPr>
          <a:xfrm>
            <a:off x="822960" y="3017520"/>
            <a:ext cx="10241280" cy="2286000"/>
          </a:xfrm>
          <a:prstGeom prst="rect">
            <a:avLst/>
          </a:prstGeom>
          <a:noFill/>
        </p:spPr>
        <p:txBody>
          <a:bodyPr wrap="square">
            <a:spAutoFit/>
          </a:bodyPr>
          <a:lstStyle/>
          <a:p>
            <a:r>
              <a:rPr sz="2200" b="0">
                <a:solidFill>
                  <a:srgbClr val="1A1F1C"/>
                </a:solidFill>
                <a:latin typeface="Calibri"/>
              </a:rPr>
              <a:t>How do you teach them to vote properly — without a parent, a party ad, or a TikTok? Knowledge they chose to flip. Fake news is another reason this is the job: if they know the list, a fake has less room.</a:t>
            </a:r>
          </a:p>
        </p:txBody>
      </p:sp>
      <p:sp>
        <p:nvSpPr>
          <p:cNvPr id="5" name="TextBox 4"/>
          <p:cNvSpPr txBox="1"/>
          <p:nvPr/>
        </p:nvSpPr>
        <p:spPr>
          <a:xfrm>
            <a:off x="822960" y="6446520"/>
            <a:ext cx="5486400" cy="274320"/>
          </a:xfrm>
          <a:prstGeom prst="rect">
            <a:avLst/>
          </a:prstGeom>
          <a:noFill/>
        </p:spPr>
        <p:txBody>
          <a:bodyPr wrap="none">
            <a:spAutoFit/>
          </a:bodyPr>
          <a:lstStyle/>
          <a:p>
            <a:r>
              <a:rPr sz="1200" b="0">
                <a:solidFill>
                  <a:srgbClr val="1F4F4A"/>
                </a:solidFill>
                <a:latin typeface="Calibri"/>
              </a:rPr>
              <a:t>Kalpi  ·  pitch</a:t>
            </a:r>
          </a:p>
        </p:txBody>
      </p:sp>
      <p:sp>
        <p:nvSpPr>
          <p:cNvPr id="6" name="TextBox 5"/>
          <p:cNvSpPr txBox="1"/>
          <p:nvPr/>
        </p:nvSpPr>
        <p:spPr>
          <a:xfrm>
            <a:off x="9509760" y="6446520"/>
            <a:ext cx="1828800" cy="274320"/>
          </a:xfrm>
          <a:prstGeom prst="rect">
            <a:avLst/>
          </a:prstGeom>
          <a:noFill/>
        </p:spPr>
        <p:txBody>
          <a:bodyPr wrap="none">
            <a:spAutoFit/>
          </a:bodyPr>
          <a:lstStyle/>
          <a:p>
            <a:pPr algn="r"/>
            <a:r>
              <a:rPr sz="1200" b="0">
                <a:solidFill>
                  <a:srgbClr val="1F4F4A"/>
                </a:solidFill>
                <a:latin typeface="Calibri"/>
              </a:rPr>
              <a:t>10  /  23</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4EFE4"/>
        </a:solidFill>
        <a:effectLst/>
      </p:bgPr>
    </p:bg>
    <p:spTree>
      <p:nvGrpSpPr>
        <p:cNvPr id="1" name=""/>
        <p:cNvGrpSpPr/>
        <p:nvPr/>
      </p:nvGrpSpPr>
      <p:grpSpPr/>
      <p:sp>
        <p:nvSpPr>
          <p:cNvPr id="2" name="TextBox 1"/>
          <p:cNvSpPr txBox="1"/>
          <p:nvPr/>
        </p:nvSpPr>
        <p:spPr>
          <a:xfrm>
            <a:off x="822960" y="411480"/>
            <a:ext cx="10515600" cy="365760"/>
          </a:xfrm>
          <a:prstGeom prst="rect">
            <a:avLst/>
          </a:prstGeom>
          <a:noFill/>
        </p:spPr>
        <p:txBody>
          <a:bodyPr wrap="none">
            <a:spAutoFit/>
          </a:bodyPr>
          <a:lstStyle/>
          <a:p>
            <a:r>
              <a:rPr sz="1300" b="1">
                <a:solidFill>
                  <a:srgbClr val="1F4F4A"/>
                </a:solidFill>
                <a:latin typeface="Calibri"/>
              </a:rPr>
              <a:t>WHY THEY ARE STILL THE TARGET</a:t>
            </a:r>
          </a:p>
        </p:txBody>
      </p:sp>
      <p:sp>
        <p:nvSpPr>
          <p:cNvPr id="3" name="TextBox 2"/>
          <p:cNvSpPr txBox="1"/>
          <p:nvPr/>
        </p:nvSpPr>
        <p:spPr>
          <a:xfrm>
            <a:off x="822960" y="1097280"/>
            <a:ext cx="10515600" cy="2011680"/>
          </a:xfrm>
          <a:prstGeom prst="rect">
            <a:avLst/>
          </a:prstGeom>
          <a:noFill/>
        </p:spPr>
        <p:txBody>
          <a:bodyPr wrap="square">
            <a:spAutoFit/>
          </a:bodyPr>
          <a:lstStyle/>
          <a:p>
            <a:r>
              <a:rPr sz="3400" b="0">
                <a:solidFill>
                  <a:srgbClr val="1A1F1C"/>
                </a:solidFill>
                <a:latin typeface="Georgia"/>
              </a:rPr>
              <a:t>Lowest turnout. Largest new bloc. Weakest list-knowledge.</a:t>
            </a:r>
          </a:p>
        </p:txBody>
      </p:sp>
      <p:sp>
        <p:nvSpPr>
          <p:cNvPr id="4" name="TextBox 3"/>
          <p:cNvSpPr txBox="1"/>
          <p:nvPr/>
        </p:nvSpPr>
        <p:spPr>
          <a:xfrm>
            <a:off x="822960" y="3383280"/>
            <a:ext cx="10241280" cy="2286000"/>
          </a:xfrm>
          <a:prstGeom prst="rect">
            <a:avLst/>
          </a:prstGeom>
          <a:noFill/>
        </p:spPr>
        <p:txBody>
          <a:bodyPr wrap="square">
            <a:spAutoFit/>
          </a:bodyPr>
          <a:lstStyle/>
          <a:p>
            <a:r>
              <a:rPr sz="2200" b="0">
                <a:solidFill>
                  <a:srgbClr val="1A1F1C"/>
                </a:solidFill>
                <a:latin typeface="Calibri"/>
              </a:rPr>
              <a:t>If anyone can move six seats without knowing who sits in slots 1–20, it is this group. Older voters already show up. This group does not — and when they do, the feed is their civics class.</a:t>
            </a:r>
          </a:p>
        </p:txBody>
      </p:sp>
      <p:sp>
        <p:nvSpPr>
          <p:cNvPr id="5" name="TextBox 4"/>
          <p:cNvSpPr txBox="1"/>
          <p:nvPr/>
        </p:nvSpPr>
        <p:spPr>
          <a:xfrm>
            <a:off x="822960" y="6446520"/>
            <a:ext cx="5486400" cy="274320"/>
          </a:xfrm>
          <a:prstGeom prst="rect">
            <a:avLst/>
          </a:prstGeom>
          <a:noFill/>
        </p:spPr>
        <p:txBody>
          <a:bodyPr wrap="none">
            <a:spAutoFit/>
          </a:bodyPr>
          <a:lstStyle/>
          <a:p>
            <a:r>
              <a:rPr sz="1200" b="0">
                <a:solidFill>
                  <a:srgbClr val="1F4F4A"/>
                </a:solidFill>
                <a:latin typeface="Calibri"/>
              </a:rPr>
              <a:t>Kalpi  ·  pitch</a:t>
            </a:r>
          </a:p>
        </p:txBody>
      </p:sp>
      <p:sp>
        <p:nvSpPr>
          <p:cNvPr id="6" name="TextBox 5"/>
          <p:cNvSpPr txBox="1"/>
          <p:nvPr/>
        </p:nvSpPr>
        <p:spPr>
          <a:xfrm>
            <a:off x="9509760" y="6446520"/>
            <a:ext cx="1828800" cy="274320"/>
          </a:xfrm>
          <a:prstGeom prst="rect">
            <a:avLst/>
          </a:prstGeom>
          <a:noFill/>
        </p:spPr>
        <p:txBody>
          <a:bodyPr wrap="none">
            <a:spAutoFit/>
          </a:bodyPr>
          <a:lstStyle/>
          <a:p>
            <a:pPr algn="r"/>
            <a:r>
              <a:rPr sz="1200" b="0">
                <a:solidFill>
                  <a:srgbClr val="1F4F4A"/>
                </a:solidFill>
                <a:latin typeface="Calibri"/>
              </a:rPr>
              <a:t>11  /  23</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4EFE4"/>
        </a:solidFill>
        <a:effectLst/>
      </p:bgPr>
    </p:bg>
    <p:spTree>
      <p:nvGrpSpPr>
        <p:cNvPr id="1" name=""/>
        <p:cNvGrpSpPr/>
        <p:nvPr/>
      </p:nvGrpSpPr>
      <p:grpSpPr/>
      <p:sp>
        <p:nvSpPr>
          <p:cNvPr id="2" name="TextBox 1"/>
          <p:cNvSpPr txBox="1"/>
          <p:nvPr/>
        </p:nvSpPr>
        <p:spPr>
          <a:xfrm>
            <a:off x="822960" y="411480"/>
            <a:ext cx="10515600" cy="365760"/>
          </a:xfrm>
          <a:prstGeom prst="rect">
            <a:avLst/>
          </a:prstGeom>
          <a:noFill/>
        </p:spPr>
        <p:txBody>
          <a:bodyPr wrap="none">
            <a:spAutoFit/>
          </a:bodyPr>
          <a:lstStyle/>
          <a:p>
            <a:r>
              <a:rPr sz="1300" b="1">
                <a:solidFill>
                  <a:srgbClr val="1F4F4A"/>
                </a:solidFill>
                <a:latin typeface="Calibri"/>
              </a:rPr>
              <a:t>WHAT CHARACTERIZES THEM</a:t>
            </a:r>
          </a:p>
        </p:txBody>
      </p:sp>
      <p:sp>
        <p:nvSpPr>
          <p:cNvPr id="3" name="TextBox 2"/>
          <p:cNvSpPr txBox="1"/>
          <p:nvPr/>
        </p:nvSpPr>
        <p:spPr>
          <a:xfrm>
            <a:off x="822960" y="1097280"/>
            <a:ext cx="10515600" cy="2286000"/>
          </a:xfrm>
          <a:prstGeom prst="rect">
            <a:avLst/>
          </a:prstGeom>
          <a:noFill/>
        </p:spPr>
        <p:txBody>
          <a:bodyPr wrap="square">
            <a:spAutoFit/>
          </a:bodyPr>
          <a:lstStyle/>
          <a:p>
            <a:r>
              <a:rPr sz="4000" b="0">
                <a:solidFill>
                  <a:srgbClr val="1A1F1C"/>
                </a:solidFill>
                <a:latin typeface="Georgia"/>
              </a:rPr>
              <a:t>47 seconds. Dopamine. Viral or invisible.</a:t>
            </a:r>
          </a:p>
        </p:txBody>
      </p:sp>
      <p:sp>
        <p:nvSpPr>
          <p:cNvPr id="4" name="TextBox 3"/>
          <p:cNvSpPr txBox="1"/>
          <p:nvPr/>
        </p:nvSpPr>
        <p:spPr>
          <a:xfrm>
            <a:off x="822960" y="3566160"/>
            <a:ext cx="10241280" cy="2286000"/>
          </a:xfrm>
          <a:prstGeom prst="rect">
            <a:avLst/>
          </a:prstGeom>
          <a:noFill/>
        </p:spPr>
        <p:txBody>
          <a:bodyPr wrap="square">
            <a:spAutoFit/>
          </a:bodyPr>
          <a:lstStyle/>
          <a:p>
            <a:r>
              <a:rPr sz="2200" b="0">
                <a:solidFill>
                  <a:srgbClr val="1A1F1C"/>
                </a:solidFill>
                <a:latin typeface="Calibri"/>
              </a:rPr>
              <a:t>Gloria Mark: average screen focus is 47 seconds, median 40. Age of wars and TikTok. If it is not a daily loop, it is a lecture they will not finish.</a:t>
            </a:r>
          </a:p>
        </p:txBody>
      </p:sp>
      <p:sp>
        <p:nvSpPr>
          <p:cNvPr id="5" name="TextBox 4"/>
          <p:cNvSpPr txBox="1"/>
          <p:nvPr/>
        </p:nvSpPr>
        <p:spPr>
          <a:xfrm>
            <a:off x="822960" y="6446520"/>
            <a:ext cx="5486400" cy="274320"/>
          </a:xfrm>
          <a:prstGeom prst="rect">
            <a:avLst/>
          </a:prstGeom>
          <a:noFill/>
        </p:spPr>
        <p:txBody>
          <a:bodyPr wrap="none">
            <a:spAutoFit/>
          </a:bodyPr>
          <a:lstStyle/>
          <a:p>
            <a:r>
              <a:rPr sz="1200" b="0">
                <a:solidFill>
                  <a:srgbClr val="1F4F4A"/>
                </a:solidFill>
                <a:latin typeface="Calibri"/>
              </a:rPr>
              <a:t>Kalpi  ·  pitch</a:t>
            </a:r>
          </a:p>
        </p:txBody>
      </p:sp>
      <p:sp>
        <p:nvSpPr>
          <p:cNvPr id="6" name="TextBox 5"/>
          <p:cNvSpPr txBox="1"/>
          <p:nvPr/>
        </p:nvSpPr>
        <p:spPr>
          <a:xfrm>
            <a:off x="9509760" y="6446520"/>
            <a:ext cx="1828800" cy="274320"/>
          </a:xfrm>
          <a:prstGeom prst="rect">
            <a:avLst/>
          </a:prstGeom>
          <a:noFill/>
        </p:spPr>
        <p:txBody>
          <a:bodyPr wrap="none">
            <a:spAutoFit/>
          </a:bodyPr>
          <a:lstStyle/>
          <a:p>
            <a:pPr algn="r"/>
            <a:r>
              <a:rPr sz="1200" b="0">
                <a:solidFill>
                  <a:srgbClr val="1F4F4A"/>
                </a:solidFill>
                <a:latin typeface="Calibri"/>
              </a:rPr>
              <a:t>12  /  23</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4EFE4"/>
        </a:solidFill>
        <a:effectLst/>
      </p:bgPr>
    </p:bg>
    <p:spTree>
      <p:nvGrpSpPr>
        <p:cNvPr id="1" name=""/>
        <p:cNvGrpSpPr/>
        <p:nvPr/>
      </p:nvGrpSpPr>
      <p:grpSpPr/>
      <p:sp>
        <p:nvSpPr>
          <p:cNvPr id="2" name="TextBox 1"/>
          <p:cNvSpPr txBox="1"/>
          <p:nvPr/>
        </p:nvSpPr>
        <p:spPr>
          <a:xfrm>
            <a:off x="822960" y="411480"/>
            <a:ext cx="10515600" cy="365760"/>
          </a:xfrm>
          <a:prstGeom prst="rect">
            <a:avLst/>
          </a:prstGeom>
          <a:noFill/>
        </p:spPr>
        <p:txBody>
          <a:bodyPr wrap="none">
            <a:spAutoFit/>
          </a:bodyPr>
          <a:lstStyle/>
          <a:p>
            <a:r>
              <a:rPr sz="1300" b="1">
                <a:solidFill>
                  <a:srgbClr val="1F4F4A"/>
                </a:solidFill>
                <a:latin typeface="Calibri"/>
              </a:rPr>
              <a:t>3  ·  LOCAL PROOF — CARDS ALREADY TEACH ISRAEL</a:t>
            </a:r>
          </a:p>
        </p:txBody>
      </p:sp>
      <p:sp>
        <p:nvSpPr>
          <p:cNvPr id="3" name="TextBox 2"/>
          <p:cNvSpPr txBox="1"/>
          <p:nvPr/>
        </p:nvSpPr>
        <p:spPr>
          <a:xfrm>
            <a:off x="822960" y="1097280"/>
            <a:ext cx="10515600" cy="1280160"/>
          </a:xfrm>
          <a:prstGeom prst="rect">
            <a:avLst/>
          </a:prstGeom>
          <a:noFill/>
        </p:spPr>
        <p:txBody>
          <a:bodyPr wrap="square">
            <a:spAutoFit/>
          </a:bodyPr>
          <a:lstStyle/>
          <a:p>
            <a:r>
              <a:rPr sz="4000" b="0">
                <a:solidFill>
                  <a:srgbClr val="1A1F1C"/>
                </a:solidFill>
                <a:latin typeface="Georgia"/>
              </a:rPr>
              <a:t>State Makers / יוצרים מדינה</a:t>
            </a:r>
          </a:p>
        </p:txBody>
      </p:sp>
      <p:sp>
        <p:nvSpPr>
          <p:cNvPr id="4" name="TextBox 3"/>
          <p:cNvSpPr txBox="1"/>
          <p:nvPr/>
        </p:nvSpPr>
        <p:spPr>
          <a:xfrm>
            <a:off x="822960" y="2560320"/>
            <a:ext cx="10241280" cy="2286000"/>
          </a:xfrm>
          <a:prstGeom prst="rect">
            <a:avLst/>
          </a:prstGeom>
          <a:noFill/>
        </p:spPr>
        <p:txBody>
          <a:bodyPr wrap="square">
            <a:spAutoFit/>
          </a:bodyPr>
          <a:lstStyle/>
          <a:p>
            <a:r>
              <a:rPr sz="2000" b="0">
                <a:solidFill>
                  <a:srgbClr val="1A1F1C"/>
                </a:solidFill>
                <a:latin typeface="Calibri"/>
              </a:rPr>
              <a:t>Piece of History. 98-card Israeli history set. Packs of 8. Holos. First edition sold out. People paid to collect — and learned the country’s story. We point that format at this election, digital and free.  pieceofhistory.com/statemakers</a:t>
            </a:r>
          </a:p>
        </p:txBody>
      </p:sp>
      <p:sp>
        <p:nvSpPr>
          <p:cNvPr id="5" name="TextBox 4"/>
          <p:cNvSpPr txBox="1"/>
          <p:nvPr/>
        </p:nvSpPr>
        <p:spPr>
          <a:xfrm>
            <a:off x="822960" y="6446520"/>
            <a:ext cx="5486400" cy="274320"/>
          </a:xfrm>
          <a:prstGeom prst="rect">
            <a:avLst/>
          </a:prstGeom>
          <a:noFill/>
        </p:spPr>
        <p:txBody>
          <a:bodyPr wrap="none">
            <a:spAutoFit/>
          </a:bodyPr>
          <a:lstStyle/>
          <a:p>
            <a:r>
              <a:rPr sz="1200" b="0">
                <a:solidFill>
                  <a:srgbClr val="1F4F4A"/>
                </a:solidFill>
                <a:latin typeface="Calibri"/>
              </a:rPr>
              <a:t>Kalpi  ·  pitch</a:t>
            </a:r>
          </a:p>
        </p:txBody>
      </p:sp>
      <p:sp>
        <p:nvSpPr>
          <p:cNvPr id="6" name="TextBox 5"/>
          <p:cNvSpPr txBox="1"/>
          <p:nvPr/>
        </p:nvSpPr>
        <p:spPr>
          <a:xfrm>
            <a:off x="9509760" y="6446520"/>
            <a:ext cx="1828800" cy="274320"/>
          </a:xfrm>
          <a:prstGeom prst="rect">
            <a:avLst/>
          </a:prstGeom>
          <a:noFill/>
        </p:spPr>
        <p:txBody>
          <a:bodyPr wrap="none">
            <a:spAutoFit/>
          </a:bodyPr>
          <a:lstStyle/>
          <a:p>
            <a:pPr algn="r"/>
            <a:r>
              <a:rPr sz="1200" b="0">
                <a:solidFill>
                  <a:srgbClr val="1F4F4A"/>
                </a:solidFill>
                <a:latin typeface="Calibri"/>
              </a:rPr>
              <a:t>13  /  23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4EFE4"/>
        </a:solidFill>
        <a:effectLst/>
      </p:bgPr>
    </p:bg>
    <p:spTree>
      <p:nvGrpSpPr>
        <p:cNvPr id="1" name=""/>
        <p:cNvGrpSpPr/>
        <p:nvPr/>
      </p:nvGrpSpPr>
      <p:grpSpPr/>
      <p:sp>
        <p:nvSpPr>
          <p:cNvPr id="2" name="TextBox 1"/>
          <p:cNvSpPr txBox="1"/>
          <p:nvPr/>
        </p:nvSpPr>
        <p:spPr>
          <a:xfrm>
            <a:off x="822960" y="411480"/>
            <a:ext cx="10515600" cy="365760"/>
          </a:xfrm>
          <a:prstGeom prst="rect">
            <a:avLst/>
          </a:prstGeom>
          <a:noFill/>
        </p:spPr>
        <p:txBody>
          <a:bodyPr wrap="none">
            <a:spAutoFit/>
          </a:bodyPr>
          <a:lstStyle/>
          <a:p>
            <a:r>
              <a:rPr sz="1300" b="1">
                <a:solidFill>
                  <a:srgbClr val="1F4F4A"/>
                </a:solidFill>
                <a:latin typeface="Calibri"/>
              </a:rPr>
              <a:t>WHY THE DIGITAL MANEUVER WORKS — POKÉMON TCG POCKET</a:t>
            </a:r>
          </a:p>
        </p:txBody>
      </p:sp>
      <p:sp>
        <p:nvSpPr>
          <p:cNvPr id="3" name="TextBox 2"/>
          <p:cNvSpPr txBox="1"/>
          <p:nvPr/>
        </p:nvSpPr>
        <p:spPr>
          <a:xfrm>
            <a:off x="822960" y="1097280"/>
            <a:ext cx="10515600" cy="1097280"/>
          </a:xfrm>
          <a:prstGeom prst="rect">
            <a:avLst/>
          </a:prstGeom>
          <a:noFill/>
        </p:spPr>
        <p:txBody>
          <a:bodyPr wrap="square">
            <a:spAutoFit/>
          </a:bodyPr>
          <a:lstStyle/>
          <a:p>
            <a:r>
              <a:rPr sz="3200" b="0">
                <a:solidFill>
                  <a:srgbClr val="1A1F1C"/>
                </a:solidFill>
                <a:latin typeface="Georgia"/>
              </a:rPr>
              <a:t>Five things we take. Not the shop.</a:t>
            </a:r>
          </a:p>
        </p:txBody>
      </p:sp>
      <p:sp>
        <p:nvSpPr>
          <p:cNvPr id="4" name="TextBox 3"/>
          <p:cNvSpPr txBox="1"/>
          <p:nvPr/>
        </p:nvSpPr>
        <p:spPr>
          <a:xfrm>
            <a:off x="822960" y="2377440"/>
            <a:ext cx="10241280" cy="2926080"/>
          </a:xfrm>
          <a:prstGeom prst="rect">
            <a:avLst/>
          </a:prstGeom>
          <a:noFill/>
        </p:spPr>
        <p:txBody>
          <a:bodyPr wrap="square">
            <a:spAutoFit/>
          </a:bodyPr>
          <a:lstStyle/>
          <a:p>
            <a:r>
              <a:rPr sz="2200" b="0">
                <a:solidFill>
                  <a:srgbClr val="1A1F1C"/>
                </a:solidFill>
                <a:latin typeface="Calibri"/>
              </a:rPr>
              <a:t>1  Daily timed pack — they come back.   2  The rip is a ritual — addictive.   3  Collecting sets is the progression.   4  Rarity is a screenshot — that is the virality.   5  Built for a quick session.</a:t>
            </a:r>
          </a:p>
        </p:txBody>
      </p:sp>
      <p:sp>
        <p:nvSpPr>
          <p:cNvPr id="5" name="TextBox 4"/>
          <p:cNvSpPr txBox="1"/>
          <p:nvPr/>
        </p:nvSpPr>
        <p:spPr>
          <a:xfrm>
            <a:off x="822960" y="6446520"/>
            <a:ext cx="5486400" cy="274320"/>
          </a:xfrm>
          <a:prstGeom prst="rect">
            <a:avLst/>
          </a:prstGeom>
          <a:noFill/>
        </p:spPr>
        <p:txBody>
          <a:bodyPr wrap="none">
            <a:spAutoFit/>
          </a:bodyPr>
          <a:lstStyle/>
          <a:p>
            <a:r>
              <a:rPr sz="1200" b="0">
                <a:solidFill>
                  <a:srgbClr val="1F4F4A"/>
                </a:solidFill>
                <a:latin typeface="Calibri"/>
              </a:rPr>
              <a:t>Kalpi  ·  pitch</a:t>
            </a:r>
          </a:p>
        </p:txBody>
      </p:sp>
      <p:sp>
        <p:nvSpPr>
          <p:cNvPr id="6" name="TextBox 5"/>
          <p:cNvSpPr txBox="1"/>
          <p:nvPr/>
        </p:nvSpPr>
        <p:spPr>
          <a:xfrm>
            <a:off x="9509760" y="6446520"/>
            <a:ext cx="1828800" cy="274320"/>
          </a:xfrm>
          <a:prstGeom prst="rect">
            <a:avLst/>
          </a:prstGeom>
          <a:noFill/>
        </p:spPr>
        <p:txBody>
          <a:bodyPr wrap="none">
            <a:spAutoFit/>
          </a:bodyPr>
          <a:lstStyle/>
          <a:p>
            <a:pPr algn="r"/>
            <a:r>
              <a:rPr sz="1200" b="0">
                <a:solidFill>
                  <a:srgbClr val="1F4F4A"/>
                </a:solidFill>
                <a:latin typeface="Calibri"/>
              </a:rPr>
              <a:t>14  /  23</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4EFE4"/>
        </a:solidFill>
        <a:effectLst/>
      </p:bgPr>
    </p:bg>
    <p:spTree>
      <p:nvGrpSpPr>
        <p:cNvPr id="1" name=""/>
        <p:cNvGrpSpPr/>
        <p:nvPr/>
      </p:nvGrpSpPr>
      <p:grpSpPr/>
      <p:sp>
        <p:nvSpPr>
          <p:cNvPr id="2" name="TextBox 1"/>
          <p:cNvSpPr txBox="1"/>
          <p:nvPr/>
        </p:nvSpPr>
        <p:spPr>
          <a:xfrm>
            <a:off x="822960" y="411480"/>
            <a:ext cx="10515600" cy="365760"/>
          </a:xfrm>
          <a:prstGeom prst="rect">
            <a:avLst/>
          </a:prstGeom>
          <a:noFill/>
        </p:spPr>
        <p:txBody>
          <a:bodyPr wrap="none">
            <a:spAutoFit/>
          </a:bodyPr>
          <a:lstStyle/>
          <a:p>
            <a:r>
              <a:rPr sz="1300" b="1">
                <a:solidFill>
                  <a:srgbClr val="1F4F4A"/>
                </a:solidFill>
                <a:latin typeface="Calibri"/>
              </a:rPr>
              <a:t>STRATEGY  ·  THE IRON IS HOT</a:t>
            </a:r>
          </a:p>
        </p:txBody>
      </p:sp>
      <p:sp>
        <p:nvSpPr>
          <p:cNvPr id="3" name="TextBox 2"/>
          <p:cNvSpPr txBox="1"/>
          <p:nvPr/>
        </p:nvSpPr>
        <p:spPr>
          <a:xfrm>
            <a:off x="822960" y="1097280"/>
            <a:ext cx="10515600" cy="2286000"/>
          </a:xfrm>
          <a:prstGeom prst="rect">
            <a:avLst/>
          </a:prstGeom>
          <a:noFill/>
        </p:spPr>
        <p:txBody>
          <a:bodyPr wrap="square">
            <a:spAutoFit/>
          </a:bodyPr>
          <a:lstStyle/>
          <a:p>
            <a:r>
              <a:rPr sz="4000" b="0">
                <a:solidFill>
                  <a:srgbClr val="1A1F1C"/>
                </a:solidFill>
                <a:latin typeface="Georgia"/>
              </a:rPr>
              <a:t>Not only Pokémon. The format is spreading.</a:t>
            </a:r>
          </a:p>
        </p:txBody>
      </p:sp>
      <p:sp>
        <p:nvSpPr>
          <p:cNvPr id="4" name="TextBox 3"/>
          <p:cNvSpPr txBox="1"/>
          <p:nvPr/>
        </p:nvSpPr>
        <p:spPr>
          <a:xfrm>
            <a:off x="822960" y="3566160"/>
            <a:ext cx="10241280" cy="2286000"/>
          </a:xfrm>
          <a:prstGeom prst="rect">
            <a:avLst/>
          </a:prstGeom>
          <a:noFill/>
        </p:spPr>
        <p:txBody>
          <a:bodyPr wrap="square">
            <a:spAutoFit/>
          </a:bodyPr>
          <a:lstStyle/>
          <a:p>
            <a:r>
              <a:rPr sz="2200" b="0">
                <a:solidFill>
                  <a:srgbClr val="1A1F1C"/>
                </a:solidFill>
                <a:latin typeface="Calibri"/>
              </a:rPr>
              <a:t>Tracked TCG sales doubled in 2025. One Piece, Riftbound, Cyberpunk. Sports never left. US politics already has cards. State Makers is the best local proof. Hit it now.</a:t>
            </a:r>
          </a:p>
        </p:txBody>
      </p:sp>
      <p:sp>
        <p:nvSpPr>
          <p:cNvPr id="5" name="TextBox 4"/>
          <p:cNvSpPr txBox="1"/>
          <p:nvPr/>
        </p:nvSpPr>
        <p:spPr>
          <a:xfrm>
            <a:off x="822960" y="6446520"/>
            <a:ext cx="5486400" cy="274320"/>
          </a:xfrm>
          <a:prstGeom prst="rect">
            <a:avLst/>
          </a:prstGeom>
          <a:noFill/>
        </p:spPr>
        <p:txBody>
          <a:bodyPr wrap="none">
            <a:spAutoFit/>
          </a:bodyPr>
          <a:lstStyle/>
          <a:p>
            <a:r>
              <a:rPr sz="1200" b="0">
                <a:solidFill>
                  <a:srgbClr val="1F4F4A"/>
                </a:solidFill>
                <a:latin typeface="Calibri"/>
              </a:rPr>
              <a:t>Kalpi  ·  pitch</a:t>
            </a:r>
          </a:p>
        </p:txBody>
      </p:sp>
      <p:sp>
        <p:nvSpPr>
          <p:cNvPr id="6" name="TextBox 5"/>
          <p:cNvSpPr txBox="1"/>
          <p:nvPr/>
        </p:nvSpPr>
        <p:spPr>
          <a:xfrm>
            <a:off x="9509760" y="6446520"/>
            <a:ext cx="1828800" cy="274320"/>
          </a:xfrm>
          <a:prstGeom prst="rect">
            <a:avLst/>
          </a:prstGeom>
          <a:noFill/>
        </p:spPr>
        <p:txBody>
          <a:bodyPr wrap="none">
            <a:spAutoFit/>
          </a:bodyPr>
          <a:lstStyle/>
          <a:p>
            <a:pPr algn="r"/>
            <a:r>
              <a:rPr sz="1200" b="0">
                <a:solidFill>
                  <a:srgbClr val="1F4F4A"/>
                </a:solidFill>
                <a:latin typeface="Calibri"/>
              </a:rPr>
              <a:t>15  /  23</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4EFE4"/>
        </a:solidFill>
        <a:effectLst/>
      </p:bgPr>
    </p:bg>
    <p:spTree>
      <p:nvGrpSpPr>
        <p:cNvPr id="1" name=""/>
        <p:cNvGrpSpPr/>
        <p:nvPr/>
      </p:nvGrpSpPr>
      <p:grpSpPr/>
      <p:sp>
        <p:nvSpPr>
          <p:cNvPr id="2" name="TextBox 1"/>
          <p:cNvSpPr txBox="1"/>
          <p:nvPr/>
        </p:nvSpPr>
        <p:spPr>
          <a:xfrm>
            <a:off x="822960" y="411480"/>
            <a:ext cx="10515600" cy="365760"/>
          </a:xfrm>
          <a:prstGeom prst="rect">
            <a:avLst/>
          </a:prstGeom>
          <a:noFill/>
        </p:spPr>
        <p:txBody>
          <a:bodyPr wrap="none">
            <a:spAutoFit/>
          </a:bodyPr>
          <a:lstStyle/>
          <a:p>
            <a:r>
              <a:rPr sz="1300" b="1">
                <a:solidFill>
                  <a:srgbClr val="1F4F4A"/>
                </a:solidFill>
                <a:latin typeface="Calibri"/>
              </a:rPr>
              <a:t>TRAIT → GAME</a:t>
            </a:r>
          </a:p>
        </p:txBody>
      </p:sp>
      <p:sp>
        <p:nvSpPr>
          <p:cNvPr id="3" name="TextBox 2"/>
          <p:cNvSpPr txBox="1"/>
          <p:nvPr/>
        </p:nvSpPr>
        <p:spPr>
          <a:xfrm>
            <a:off x="822960" y="1097280"/>
            <a:ext cx="10515600" cy="2194560"/>
          </a:xfrm>
          <a:prstGeom prst="rect">
            <a:avLst/>
          </a:prstGeom>
          <a:noFill/>
        </p:spPr>
        <p:txBody>
          <a:bodyPr wrap="square">
            <a:spAutoFit/>
          </a:bodyPr>
          <a:lstStyle/>
          <a:p>
            <a:r>
              <a:rPr sz="2800" b="0">
                <a:solidFill>
                  <a:srgbClr val="1A1F1C"/>
                </a:solidFill>
                <a:latin typeface="Georgia"/>
              </a:rPr>
              <a:t>90-second rip. Daily pack. Card back. Anonymous pledge. Share the pull.</a:t>
            </a:r>
          </a:p>
        </p:txBody>
      </p:sp>
      <p:sp>
        <p:nvSpPr>
          <p:cNvPr id="4" name="TextBox 3"/>
          <p:cNvSpPr txBox="1"/>
          <p:nvPr/>
        </p:nvSpPr>
        <p:spPr>
          <a:xfrm>
            <a:off x="822960" y="3657600"/>
            <a:ext cx="10241280" cy="2286000"/>
          </a:xfrm>
          <a:prstGeom prst="rect">
            <a:avLst/>
          </a:prstGeom>
          <a:noFill/>
        </p:spPr>
        <p:txBody>
          <a:bodyPr wrap="square">
            <a:spAutoFit/>
          </a:bodyPr>
          <a:lstStyle/>
          <a:p>
            <a:r>
              <a:rPr sz="2000" b="0">
                <a:solidFill>
                  <a:srgbClr val="1A1F1C"/>
                </a:solidFill>
                <a:latin typeface="Calibri"/>
              </a:rPr>
              <a:t>The rip is bait. Extra packs come from a 5-minute swipe. A survey can unlock a party pack. Show-up is the outcome.</a:t>
            </a:r>
          </a:p>
        </p:txBody>
      </p:sp>
      <p:sp>
        <p:nvSpPr>
          <p:cNvPr id="5" name="TextBox 4"/>
          <p:cNvSpPr txBox="1"/>
          <p:nvPr/>
        </p:nvSpPr>
        <p:spPr>
          <a:xfrm>
            <a:off x="822960" y="6446520"/>
            <a:ext cx="5486400" cy="274320"/>
          </a:xfrm>
          <a:prstGeom prst="rect">
            <a:avLst/>
          </a:prstGeom>
          <a:noFill/>
        </p:spPr>
        <p:txBody>
          <a:bodyPr wrap="none">
            <a:spAutoFit/>
          </a:bodyPr>
          <a:lstStyle/>
          <a:p>
            <a:r>
              <a:rPr sz="1200" b="0">
                <a:solidFill>
                  <a:srgbClr val="1F4F4A"/>
                </a:solidFill>
                <a:latin typeface="Calibri"/>
              </a:rPr>
              <a:t>Kalpi  ·  pitch</a:t>
            </a:r>
          </a:p>
        </p:txBody>
      </p:sp>
      <p:sp>
        <p:nvSpPr>
          <p:cNvPr id="6" name="TextBox 5"/>
          <p:cNvSpPr txBox="1"/>
          <p:nvPr/>
        </p:nvSpPr>
        <p:spPr>
          <a:xfrm>
            <a:off x="9509760" y="6446520"/>
            <a:ext cx="1828800" cy="274320"/>
          </a:xfrm>
          <a:prstGeom prst="rect">
            <a:avLst/>
          </a:prstGeom>
          <a:noFill/>
        </p:spPr>
        <p:txBody>
          <a:bodyPr wrap="none">
            <a:spAutoFit/>
          </a:bodyPr>
          <a:lstStyle/>
          <a:p>
            <a:pPr algn="r"/>
            <a:r>
              <a:rPr sz="1200" b="0">
                <a:solidFill>
                  <a:srgbClr val="1F4F4A"/>
                </a:solidFill>
                <a:latin typeface="Calibri"/>
              </a:rPr>
              <a:t>16  /  23</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4EFE4"/>
        </a:solidFill>
        <a:effectLst/>
      </p:bgPr>
    </p:bg>
    <p:spTree>
      <p:nvGrpSpPr>
        <p:cNvPr id="1" name=""/>
        <p:cNvGrpSpPr/>
        <p:nvPr/>
      </p:nvGrpSpPr>
      <p:grpSpPr/>
      <p:sp>
        <p:nvSpPr>
          <p:cNvPr id="2" name="TextBox 1"/>
          <p:cNvSpPr txBox="1"/>
          <p:nvPr/>
        </p:nvSpPr>
        <p:spPr>
          <a:xfrm>
            <a:off x="822960" y="411480"/>
            <a:ext cx="10515600" cy="365760"/>
          </a:xfrm>
          <a:prstGeom prst="rect">
            <a:avLst/>
          </a:prstGeom>
          <a:noFill/>
        </p:spPr>
        <p:txBody>
          <a:bodyPr wrap="none">
            <a:spAutoFit/>
          </a:bodyPr>
          <a:lstStyle/>
          <a:p>
            <a:r>
              <a:rPr sz="1300" b="1">
                <a:solidFill>
                  <a:srgbClr val="1F4F4A"/>
                </a:solidFill>
                <a:latin typeface="Calibri"/>
              </a:rPr>
              <a:t>THEY ALREADY PAY FOR A LADDER</a:t>
            </a:r>
          </a:p>
        </p:txBody>
      </p:sp>
      <p:sp>
        <p:nvSpPr>
          <p:cNvPr id="3" name="TextBox 2"/>
          <p:cNvSpPr txBox="1"/>
          <p:nvPr/>
        </p:nvSpPr>
        <p:spPr>
          <a:xfrm>
            <a:off x="822960" y="1097280"/>
            <a:ext cx="10515600" cy="1645920"/>
          </a:xfrm>
          <a:prstGeom prst="rect">
            <a:avLst/>
          </a:prstGeom>
          <a:noFill/>
        </p:spPr>
        <p:txBody>
          <a:bodyPr wrap="square">
            <a:spAutoFit/>
          </a:bodyPr>
          <a:lstStyle/>
          <a:p>
            <a:r>
              <a:rPr sz="3400" b="0">
                <a:solidFill>
                  <a:srgbClr val="1A1F1C"/>
                </a:solidFill>
                <a:latin typeface="Georgia"/>
              </a:rPr>
              <a:t>outbid.lol — fame for whoever pays more.</a:t>
            </a:r>
          </a:p>
        </p:txBody>
      </p:sp>
      <p:sp>
        <p:nvSpPr>
          <p:cNvPr id="4" name="TextBox 3"/>
          <p:cNvSpPr txBox="1"/>
          <p:nvPr/>
        </p:nvSpPr>
        <p:spPr>
          <a:xfrm>
            <a:off x="822960" y="3017520"/>
            <a:ext cx="10241280" cy="2286000"/>
          </a:xfrm>
          <a:prstGeom prst="rect">
            <a:avLst/>
          </a:prstGeom>
          <a:noFill/>
        </p:spPr>
        <p:txBody>
          <a:bodyPr wrap="square">
            <a:spAutoFit/>
          </a:bodyPr>
          <a:lstStyle/>
          <a:p>
            <a:r>
              <a:rPr sz="2000" b="0">
                <a:solidFill>
                  <a:srgbClr val="1A1F1C"/>
                </a:solidFill>
                <a:latin typeface="Calibri"/>
              </a:rPr>
              <a:t>Companies spent five figures to sit on top of a public board. ~1M visits. Proof people will waste a lot of money to go viral. This time the spectacle is for a civic cause. Nobody pays.  outbid.lol  ·  outbid.lol/about</a:t>
            </a:r>
          </a:p>
        </p:txBody>
      </p:sp>
      <p:sp>
        <p:nvSpPr>
          <p:cNvPr id="5" name="TextBox 4"/>
          <p:cNvSpPr txBox="1"/>
          <p:nvPr/>
        </p:nvSpPr>
        <p:spPr>
          <a:xfrm>
            <a:off x="822960" y="6446520"/>
            <a:ext cx="5486400" cy="274320"/>
          </a:xfrm>
          <a:prstGeom prst="rect">
            <a:avLst/>
          </a:prstGeom>
          <a:noFill/>
        </p:spPr>
        <p:txBody>
          <a:bodyPr wrap="none">
            <a:spAutoFit/>
          </a:bodyPr>
          <a:lstStyle/>
          <a:p>
            <a:r>
              <a:rPr sz="1200" b="0">
                <a:solidFill>
                  <a:srgbClr val="1F4F4A"/>
                </a:solidFill>
                <a:latin typeface="Calibri"/>
              </a:rPr>
              <a:t>Kalpi  ·  pitch</a:t>
            </a:r>
          </a:p>
        </p:txBody>
      </p:sp>
      <p:sp>
        <p:nvSpPr>
          <p:cNvPr id="6" name="TextBox 5"/>
          <p:cNvSpPr txBox="1"/>
          <p:nvPr/>
        </p:nvSpPr>
        <p:spPr>
          <a:xfrm>
            <a:off x="9509760" y="6446520"/>
            <a:ext cx="1828800" cy="274320"/>
          </a:xfrm>
          <a:prstGeom prst="rect">
            <a:avLst/>
          </a:prstGeom>
          <a:noFill/>
        </p:spPr>
        <p:txBody>
          <a:bodyPr wrap="none">
            <a:spAutoFit/>
          </a:bodyPr>
          <a:lstStyle/>
          <a:p>
            <a:pPr algn="r"/>
            <a:r>
              <a:rPr sz="1200" b="0">
                <a:solidFill>
                  <a:srgbClr val="1F4F4A"/>
                </a:solidFill>
                <a:latin typeface="Calibri"/>
              </a:rPr>
              <a:t>17  /  23</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4EFE4"/>
        </a:solidFill>
        <a:effectLst/>
      </p:bgPr>
    </p:bg>
    <p:spTree>
      <p:nvGrpSpPr>
        <p:cNvPr id="1" name=""/>
        <p:cNvGrpSpPr/>
        <p:nvPr/>
      </p:nvGrpSpPr>
      <p:grpSpPr/>
      <p:sp>
        <p:nvSpPr>
          <p:cNvPr id="2" name="TextBox 1"/>
          <p:cNvSpPr txBox="1"/>
          <p:nvPr/>
        </p:nvSpPr>
        <p:spPr>
          <a:xfrm>
            <a:off x="822960" y="411480"/>
            <a:ext cx="10515600" cy="365760"/>
          </a:xfrm>
          <a:prstGeom prst="rect">
            <a:avLst/>
          </a:prstGeom>
          <a:noFill/>
        </p:spPr>
        <p:txBody>
          <a:bodyPr wrap="none">
            <a:spAutoFit/>
          </a:bodyPr>
          <a:lstStyle/>
          <a:p>
            <a:r>
              <a:rPr sz="1300" b="1">
                <a:solidFill>
                  <a:srgbClr val="1F4F4A"/>
                </a:solidFill>
                <a:latin typeface="Calibri"/>
              </a:rPr>
              <a:t>THEREFORE</a:t>
            </a:r>
          </a:p>
        </p:txBody>
      </p:sp>
      <p:sp>
        <p:nvSpPr>
          <p:cNvPr id="3" name="TextBox 2"/>
          <p:cNvSpPr txBox="1"/>
          <p:nvPr/>
        </p:nvSpPr>
        <p:spPr>
          <a:xfrm>
            <a:off x="822960" y="1280160"/>
            <a:ext cx="10515600" cy="1463040"/>
          </a:xfrm>
          <a:prstGeom prst="rect">
            <a:avLst/>
          </a:prstGeom>
          <a:noFill/>
        </p:spPr>
        <p:txBody>
          <a:bodyPr wrap="square">
            <a:spAutoFit/>
          </a:bodyPr>
          <a:lstStyle/>
          <a:p>
            <a:r>
              <a:rPr sz="7200" b="0">
                <a:solidFill>
                  <a:srgbClr val="1A1F1C"/>
                </a:solidFill>
                <a:latin typeface="Georgia"/>
              </a:rPr>
              <a:t>Kalpi.</a:t>
            </a:r>
          </a:p>
        </p:txBody>
      </p:sp>
      <p:sp>
        <p:nvSpPr>
          <p:cNvPr id="4" name="TextBox 3"/>
          <p:cNvSpPr txBox="1"/>
          <p:nvPr/>
        </p:nvSpPr>
        <p:spPr>
          <a:xfrm>
            <a:off x="822960" y="3566160"/>
            <a:ext cx="10241280" cy="2286000"/>
          </a:xfrm>
          <a:prstGeom prst="rect">
            <a:avLst/>
          </a:prstGeom>
          <a:noFill/>
        </p:spPr>
        <p:txBody>
          <a:bodyPr wrap="square">
            <a:spAutoFit/>
          </a:bodyPr>
          <a:lstStyle/>
          <a:p>
            <a:r>
              <a:rPr sz="2200" b="0">
                <a:solidFill>
                  <a:srgbClr val="1A1F1C"/>
                </a:solidFill>
                <a:latin typeface="Calibri"/>
              </a:rPr>
              <a:t>A free digital collect-only TCG of the lists. No battles. No lore. No paywall. Equal sets. The game never picks a side — you may, anonymously. One free pack a day.</a:t>
            </a:r>
          </a:p>
        </p:txBody>
      </p:sp>
      <p:sp>
        <p:nvSpPr>
          <p:cNvPr id="5" name="TextBox 4"/>
          <p:cNvSpPr txBox="1"/>
          <p:nvPr/>
        </p:nvSpPr>
        <p:spPr>
          <a:xfrm>
            <a:off x="822960" y="6446520"/>
            <a:ext cx="5486400" cy="274320"/>
          </a:xfrm>
          <a:prstGeom prst="rect">
            <a:avLst/>
          </a:prstGeom>
          <a:noFill/>
        </p:spPr>
        <p:txBody>
          <a:bodyPr wrap="none">
            <a:spAutoFit/>
          </a:bodyPr>
          <a:lstStyle/>
          <a:p>
            <a:r>
              <a:rPr sz="1200" b="0">
                <a:solidFill>
                  <a:srgbClr val="1F4F4A"/>
                </a:solidFill>
                <a:latin typeface="Calibri"/>
              </a:rPr>
              <a:t>Kalpi  ·  pitch</a:t>
            </a:r>
          </a:p>
        </p:txBody>
      </p:sp>
      <p:sp>
        <p:nvSpPr>
          <p:cNvPr id="6" name="TextBox 5"/>
          <p:cNvSpPr txBox="1"/>
          <p:nvPr/>
        </p:nvSpPr>
        <p:spPr>
          <a:xfrm>
            <a:off x="9509760" y="6446520"/>
            <a:ext cx="1828800" cy="274320"/>
          </a:xfrm>
          <a:prstGeom prst="rect">
            <a:avLst/>
          </a:prstGeom>
          <a:noFill/>
        </p:spPr>
        <p:txBody>
          <a:bodyPr wrap="none">
            <a:spAutoFit/>
          </a:bodyPr>
          <a:lstStyle/>
          <a:p>
            <a:pPr algn="r"/>
            <a:r>
              <a:rPr sz="1200" b="0">
                <a:solidFill>
                  <a:srgbClr val="1F4F4A"/>
                </a:solidFill>
                <a:latin typeface="Calibri"/>
              </a:rPr>
              <a:t>18  /  23</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4EFE4"/>
        </a:solidFill>
        <a:effectLst/>
      </p:bgPr>
    </p:bg>
    <p:spTree>
      <p:nvGrpSpPr>
        <p:cNvPr id="1" name=""/>
        <p:cNvGrpSpPr/>
        <p:nvPr/>
      </p:nvGrpSpPr>
      <p:grpSpPr/>
      <p:sp>
        <p:nvSpPr>
          <p:cNvPr id="2" name="TextBox 1"/>
          <p:cNvSpPr txBox="1"/>
          <p:nvPr/>
        </p:nvSpPr>
        <p:spPr>
          <a:xfrm>
            <a:off x="822960" y="411480"/>
            <a:ext cx="10515600" cy="365760"/>
          </a:xfrm>
          <a:prstGeom prst="rect">
            <a:avLst/>
          </a:prstGeom>
          <a:noFill/>
        </p:spPr>
        <p:txBody>
          <a:bodyPr wrap="none">
            <a:spAutoFit/>
          </a:bodyPr>
          <a:lstStyle/>
          <a:p>
            <a:r>
              <a:rPr sz="1300" b="1">
                <a:solidFill>
                  <a:srgbClr val="1F4F4A"/>
                </a:solidFill>
                <a:latin typeface="Calibri"/>
              </a:rPr>
              <a:t>PRODUCT  ·  BAIT VS GOAL</a:t>
            </a:r>
          </a:p>
        </p:txBody>
      </p:sp>
      <p:sp>
        <p:nvSpPr>
          <p:cNvPr id="3" name="TextBox 2"/>
          <p:cNvSpPr txBox="1"/>
          <p:nvPr/>
        </p:nvSpPr>
        <p:spPr>
          <a:xfrm>
            <a:off x="822960" y="1097280"/>
            <a:ext cx="10515600" cy="2286000"/>
          </a:xfrm>
          <a:prstGeom prst="rect">
            <a:avLst/>
          </a:prstGeom>
          <a:noFill/>
        </p:spPr>
        <p:txBody>
          <a:bodyPr wrap="square">
            <a:spAutoFit/>
          </a:bodyPr>
          <a:lstStyle/>
          <a:p>
            <a:r>
              <a:rPr sz="4000" b="0">
                <a:solidFill>
                  <a:srgbClr val="1A1F1C"/>
                </a:solidFill>
                <a:latin typeface="Georgia"/>
              </a:rPr>
              <a:t>The pack is bait. The goal is a smart vote.</a:t>
            </a:r>
          </a:p>
        </p:txBody>
      </p:sp>
      <p:sp>
        <p:nvSpPr>
          <p:cNvPr id="4" name="TextBox 3"/>
          <p:cNvSpPr txBox="1"/>
          <p:nvPr/>
        </p:nvSpPr>
        <p:spPr>
          <a:xfrm>
            <a:off x="822960" y="3566160"/>
            <a:ext cx="10241280" cy="2286000"/>
          </a:xfrm>
          <a:prstGeom prst="rect">
            <a:avLst/>
          </a:prstGeom>
          <a:noFill/>
        </p:spPr>
        <p:txBody>
          <a:bodyPr wrap="square">
            <a:spAutoFit/>
          </a:bodyPr>
          <a:lstStyle/>
          <a:p>
            <a:r>
              <a:rPr sz="2200" b="0">
                <a:solidFill>
                  <a:srgbClr val="1A1F1C"/>
                </a:solidFill>
                <a:latin typeface="Calibri"/>
              </a:rPr>
              <a:t>Teach Israeli politics well enough that they show up knowing the list. The card back is one lesson — not the only one. Quiz, commons, a party pack: same job. Progression is bound to learning.</a:t>
            </a:r>
          </a:p>
        </p:txBody>
      </p:sp>
      <p:sp>
        <p:nvSpPr>
          <p:cNvPr id="5" name="TextBox 4"/>
          <p:cNvSpPr txBox="1"/>
          <p:nvPr/>
        </p:nvSpPr>
        <p:spPr>
          <a:xfrm>
            <a:off x="822960" y="6446520"/>
            <a:ext cx="5486400" cy="274320"/>
          </a:xfrm>
          <a:prstGeom prst="rect">
            <a:avLst/>
          </a:prstGeom>
          <a:noFill/>
        </p:spPr>
        <p:txBody>
          <a:bodyPr wrap="none">
            <a:spAutoFit/>
          </a:bodyPr>
          <a:lstStyle/>
          <a:p>
            <a:r>
              <a:rPr sz="1200" b="0">
                <a:solidFill>
                  <a:srgbClr val="1F4F4A"/>
                </a:solidFill>
                <a:latin typeface="Calibri"/>
              </a:rPr>
              <a:t>Kalpi  ·  pitch</a:t>
            </a:r>
          </a:p>
        </p:txBody>
      </p:sp>
      <p:sp>
        <p:nvSpPr>
          <p:cNvPr id="6" name="TextBox 5"/>
          <p:cNvSpPr txBox="1"/>
          <p:nvPr/>
        </p:nvSpPr>
        <p:spPr>
          <a:xfrm>
            <a:off x="9509760" y="6446520"/>
            <a:ext cx="1828800" cy="274320"/>
          </a:xfrm>
          <a:prstGeom prst="rect">
            <a:avLst/>
          </a:prstGeom>
          <a:noFill/>
        </p:spPr>
        <p:txBody>
          <a:bodyPr wrap="none">
            <a:spAutoFit/>
          </a:bodyPr>
          <a:lstStyle/>
          <a:p>
            <a:pPr algn="r"/>
            <a:r>
              <a:rPr sz="1200" b="0">
                <a:solidFill>
                  <a:srgbClr val="1F4F4A"/>
                </a:solidFill>
                <a:latin typeface="Calibri"/>
              </a:rPr>
              <a:t>19  /  23</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4EFE4"/>
        </a:solidFill>
        <a:effectLst/>
      </p:bgPr>
    </p:bg>
    <p:spTree>
      <p:nvGrpSpPr>
        <p:cNvPr id="1" name=""/>
        <p:cNvGrpSpPr/>
        <p:nvPr/>
      </p:nvGrpSpPr>
      <p:grpSpPr/>
      <p:sp>
        <p:nvSpPr>
          <p:cNvPr id="2" name="TextBox 1"/>
          <p:cNvSpPr txBox="1"/>
          <p:nvPr/>
        </p:nvSpPr>
        <p:spPr>
          <a:xfrm>
            <a:off x="822960" y="411480"/>
            <a:ext cx="10515600" cy="365760"/>
          </a:xfrm>
          <a:prstGeom prst="rect">
            <a:avLst/>
          </a:prstGeom>
          <a:noFill/>
        </p:spPr>
        <p:txBody>
          <a:bodyPr wrap="none">
            <a:spAutoFit/>
          </a:bodyPr>
          <a:lstStyle/>
          <a:p>
            <a:r>
              <a:rPr sz="1300" b="1">
                <a:solidFill>
                  <a:srgbClr val="1F4F4A"/>
                </a:solidFill>
                <a:latin typeface="Calibri"/>
              </a:rPr>
              <a:t>PLAY IT</a:t>
            </a:r>
          </a:p>
        </p:txBody>
      </p:sp>
      <p:pic>
        <p:nvPicPr>
          <p:cNvPr id="3" name="Picture 2" descr="hero-art-kalpi.png"/>
          <p:cNvPicPr>
            <a:picLocks noChangeAspect="1"/>
          </p:cNvPicPr>
          <p:nvPr/>
        </p:nvPicPr>
        <p:blipFill>
          <a:blip r:embed="rId2"/>
          <a:stretch>
            <a:fillRect/>
          </a:stretch>
        </p:blipFill>
        <p:spPr>
          <a:xfrm>
            <a:off x="822960" y="1143000"/>
            <a:ext cx="2103120" cy="2944368"/>
          </a:xfrm>
          <a:prstGeom prst="rect">
            <a:avLst/>
          </a:prstGeom>
        </p:spPr>
      </p:pic>
      <p:pic>
        <p:nvPicPr>
          <p:cNvPr id="4" name="Picture 3" descr="hero-art-threshold.png"/>
          <p:cNvPicPr>
            <a:picLocks noChangeAspect="1"/>
          </p:cNvPicPr>
          <p:nvPr/>
        </p:nvPicPr>
        <p:blipFill>
          <a:blip r:embed="rId3"/>
          <a:stretch>
            <a:fillRect/>
          </a:stretch>
        </p:blipFill>
        <p:spPr>
          <a:xfrm>
            <a:off x="3154679" y="1143000"/>
            <a:ext cx="2103120" cy="2944368"/>
          </a:xfrm>
          <a:prstGeom prst="rect">
            <a:avLst/>
          </a:prstGeom>
        </p:spPr>
      </p:pic>
      <p:pic>
        <p:nvPicPr>
          <p:cNvPr id="5" name="Picture 4" descr="hero-art-memchetlammed.png"/>
          <p:cNvPicPr>
            <a:picLocks noChangeAspect="1"/>
          </p:cNvPicPr>
          <p:nvPr/>
        </p:nvPicPr>
        <p:blipFill>
          <a:blip r:embed="rId4"/>
          <a:stretch>
            <a:fillRect/>
          </a:stretch>
        </p:blipFill>
        <p:spPr>
          <a:xfrm>
            <a:off x="5486400" y="1143000"/>
            <a:ext cx="2103120" cy="2944368"/>
          </a:xfrm>
          <a:prstGeom prst="rect">
            <a:avLst/>
          </a:prstGeom>
        </p:spPr>
      </p:pic>
      <p:sp>
        <p:nvSpPr>
          <p:cNvPr id="6" name="TextBox 5"/>
          <p:cNvSpPr txBox="1"/>
          <p:nvPr/>
        </p:nvSpPr>
        <p:spPr>
          <a:xfrm>
            <a:off x="822960" y="4297680"/>
            <a:ext cx="10241280" cy="2286000"/>
          </a:xfrm>
          <a:prstGeom prst="rect">
            <a:avLst/>
          </a:prstGeom>
          <a:noFill/>
        </p:spPr>
        <p:txBody>
          <a:bodyPr wrap="square">
            <a:spAutoFit/>
          </a:bodyPr>
          <a:lstStyle/>
          <a:p>
            <a:r>
              <a:rPr sz="2000" b="0">
                <a:solidFill>
                  <a:srgbClr val="1A1F1C"/>
                </a:solidFill>
                <a:latin typeface="Calibri"/>
              </a:rPr>
              <a:t>Alpha: pack, flip, binder. 28 sourced cards. Server pulls the pack — the player does not invent it.</a:t>
            </a:r>
          </a:p>
        </p:txBody>
      </p:sp>
      <p:sp>
        <p:nvSpPr>
          <p:cNvPr id="7" name="TextBox 6"/>
          <p:cNvSpPr txBox="1"/>
          <p:nvPr/>
        </p:nvSpPr>
        <p:spPr>
          <a:xfrm>
            <a:off x="822960" y="6446520"/>
            <a:ext cx="5486400" cy="274320"/>
          </a:xfrm>
          <a:prstGeom prst="rect">
            <a:avLst/>
          </a:prstGeom>
          <a:noFill/>
        </p:spPr>
        <p:txBody>
          <a:bodyPr wrap="none">
            <a:spAutoFit/>
          </a:bodyPr>
          <a:lstStyle/>
          <a:p>
            <a:r>
              <a:rPr sz="1200" b="0">
                <a:solidFill>
                  <a:srgbClr val="1F4F4A"/>
                </a:solidFill>
                <a:latin typeface="Calibri"/>
              </a:rPr>
              <a:t>Kalpi  ·  pitch</a:t>
            </a:r>
          </a:p>
        </p:txBody>
      </p:sp>
      <p:sp>
        <p:nvSpPr>
          <p:cNvPr id="8" name="TextBox 7"/>
          <p:cNvSpPr txBox="1"/>
          <p:nvPr/>
        </p:nvSpPr>
        <p:spPr>
          <a:xfrm>
            <a:off x="9509760" y="6446520"/>
            <a:ext cx="1828800" cy="274320"/>
          </a:xfrm>
          <a:prstGeom prst="rect">
            <a:avLst/>
          </a:prstGeom>
          <a:noFill/>
        </p:spPr>
        <p:txBody>
          <a:bodyPr wrap="none">
            <a:spAutoFit/>
          </a:bodyPr>
          <a:lstStyle/>
          <a:p>
            <a:pPr algn="r"/>
            <a:r>
              <a:rPr sz="1200" b="0">
                <a:solidFill>
                  <a:srgbClr val="1F4F4A"/>
                </a:solidFill>
                <a:latin typeface="Calibri"/>
              </a:rPr>
              <a:t>20  /  23</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4EFE4"/>
        </a:solidFill>
        <a:effectLst/>
      </p:bgPr>
    </p:bg>
    <p:spTree>
      <p:nvGrpSpPr>
        <p:cNvPr id="1" name=""/>
        <p:cNvGrpSpPr/>
        <p:nvPr/>
      </p:nvGrpSpPr>
      <p:grpSpPr/>
      <p:sp>
        <p:nvSpPr>
          <p:cNvPr id="2" name="TextBox 1"/>
          <p:cNvSpPr txBox="1"/>
          <p:nvPr/>
        </p:nvSpPr>
        <p:spPr>
          <a:xfrm>
            <a:off x="822960" y="411480"/>
            <a:ext cx="10515600" cy="365760"/>
          </a:xfrm>
          <a:prstGeom prst="rect">
            <a:avLst/>
          </a:prstGeom>
          <a:noFill/>
        </p:spPr>
        <p:txBody>
          <a:bodyPr wrap="none">
            <a:spAutoFit/>
          </a:bodyPr>
          <a:lstStyle/>
          <a:p>
            <a:r>
              <a:rPr sz="1300" b="1">
                <a:solidFill>
                  <a:srgbClr val="1F4F4A"/>
                </a:solidFill>
                <a:latin typeface="Calibri"/>
              </a:rPr>
              <a:t>PROGRESSION IS LEARNING</a:t>
            </a:r>
          </a:p>
        </p:txBody>
      </p:sp>
      <p:sp>
        <p:nvSpPr>
          <p:cNvPr id="3" name="TextBox 2"/>
          <p:cNvSpPr txBox="1"/>
          <p:nvPr/>
        </p:nvSpPr>
        <p:spPr>
          <a:xfrm>
            <a:off x="822960" y="1097280"/>
            <a:ext cx="10515600" cy="2286000"/>
          </a:xfrm>
          <a:prstGeom prst="rect">
            <a:avLst/>
          </a:prstGeom>
          <a:noFill/>
        </p:spPr>
        <p:txBody>
          <a:bodyPr wrap="square">
            <a:spAutoFit/>
          </a:bodyPr>
          <a:lstStyle/>
          <a:p>
            <a:r>
              <a:rPr sz="4000" b="0">
                <a:solidFill>
                  <a:srgbClr val="1A1F1C"/>
                </a:solidFill>
                <a:latin typeface="Georgia"/>
              </a:rPr>
              <a:t>Image. Name. Two swipes. Five minutes.</a:t>
            </a:r>
          </a:p>
        </p:txBody>
      </p:sp>
      <p:sp>
        <p:nvSpPr>
          <p:cNvPr id="4" name="TextBox 3"/>
          <p:cNvSpPr txBox="1"/>
          <p:nvPr/>
        </p:nvSpPr>
        <p:spPr>
          <a:xfrm>
            <a:off x="822960" y="3566160"/>
            <a:ext cx="10241280" cy="2286000"/>
          </a:xfrm>
          <a:prstGeom prst="rect">
            <a:avLst/>
          </a:prstGeom>
          <a:noFill/>
        </p:spPr>
        <p:txBody>
          <a:bodyPr wrap="square">
            <a:spAutoFit/>
          </a:bodyPr>
          <a:lstStyle/>
          <a:p>
            <a:r>
              <a:rPr sz="2200" b="0">
                <a:solidFill>
                  <a:srgbClr val="1A1F1C"/>
                </a:solidFill>
                <a:latin typeface="Calibri"/>
              </a:rPr>
              <a:t>What do they do? Which list? Both right → extra pack. Optional survey → a pack of that party’s politicians. Daily rip is habit. Literacy is how you get ahead.</a:t>
            </a:r>
          </a:p>
        </p:txBody>
      </p:sp>
      <p:sp>
        <p:nvSpPr>
          <p:cNvPr id="5" name="TextBox 4"/>
          <p:cNvSpPr txBox="1"/>
          <p:nvPr/>
        </p:nvSpPr>
        <p:spPr>
          <a:xfrm>
            <a:off x="822960" y="6446520"/>
            <a:ext cx="5486400" cy="274320"/>
          </a:xfrm>
          <a:prstGeom prst="rect">
            <a:avLst/>
          </a:prstGeom>
          <a:noFill/>
        </p:spPr>
        <p:txBody>
          <a:bodyPr wrap="none">
            <a:spAutoFit/>
          </a:bodyPr>
          <a:lstStyle/>
          <a:p>
            <a:r>
              <a:rPr sz="1200" b="0">
                <a:solidFill>
                  <a:srgbClr val="1F4F4A"/>
                </a:solidFill>
                <a:latin typeface="Calibri"/>
              </a:rPr>
              <a:t>Kalpi  ·  pitch</a:t>
            </a:r>
          </a:p>
        </p:txBody>
      </p:sp>
      <p:sp>
        <p:nvSpPr>
          <p:cNvPr id="6" name="TextBox 5"/>
          <p:cNvSpPr txBox="1"/>
          <p:nvPr/>
        </p:nvSpPr>
        <p:spPr>
          <a:xfrm>
            <a:off x="9509760" y="6446520"/>
            <a:ext cx="1828800" cy="274320"/>
          </a:xfrm>
          <a:prstGeom prst="rect">
            <a:avLst/>
          </a:prstGeom>
          <a:noFill/>
        </p:spPr>
        <p:txBody>
          <a:bodyPr wrap="none">
            <a:spAutoFit/>
          </a:bodyPr>
          <a:lstStyle/>
          <a:p>
            <a:pPr algn="r"/>
            <a:r>
              <a:rPr sz="1200" b="0">
                <a:solidFill>
                  <a:srgbClr val="1F4F4A"/>
                </a:solidFill>
                <a:latin typeface="Calibri"/>
              </a:rPr>
              <a:t>21  /  23</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4EFE4"/>
        </a:solidFill>
        <a:effectLst/>
      </p:bgPr>
    </p:bg>
    <p:spTree>
      <p:nvGrpSpPr>
        <p:cNvPr id="1" name=""/>
        <p:cNvGrpSpPr/>
        <p:nvPr/>
      </p:nvGrpSpPr>
      <p:grpSpPr/>
      <p:sp>
        <p:nvSpPr>
          <p:cNvPr id="2" name="TextBox 1"/>
          <p:cNvSpPr txBox="1"/>
          <p:nvPr/>
        </p:nvSpPr>
        <p:spPr>
          <a:xfrm>
            <a:off x="822960" y="411480"/>
            <a:ext cx="10515600" cy="365760"/>
          </a:xfrm>
          <a:prstGeom prst="rect">
            <a:avLst/>
          </a:prstGeom>
          <a:noFill/>
        </p:spPr>
        <p:txBody>
          <a:bodyPr wrap="none">
            <a:spAutoFit/>
          </a:bodyPr>
          <a:lstStyle/>
          <a:p>
            <a:r>
              <a:rPr sz="1300" b="1">
                <a:solidFill>
                  <a:srgbClr val="1F4F4A"/>
                </a:solidFill>
                <a:latin typeface="Calibri"/>
              </a:rPr>
              <a:t>THE ENDS JUSTIFY THE MEANS</a:t>
            </a:r>
          </a:p>
        </p:txBody>
      </p:sp>
      <p:sp>
        <p:nvSpPr>
          <p:cNvPr id="3" name="TextBox 2"/>
          <p:cNvSpPr txBox="1"/>
          <p:nvPr/>
        </p:nvSpPr>
        <p:spPr>
          <a:xfrm>
            <a:off x="822960" y="1097280"/>
            <a:ext cx="10515600" cy="1280160"/>
          </a:xfrm>
          <a:prstGeom prst="rect">
            <a:avLst/>
          </a:prstGeom>
          <a:noFill/>
        </p:spPr>
        <p:txBody>
          <a:bodyPr wrap="square">
            <a:spAutoFit/>
          </a:bodyPr>
          <a:lstStyle/>
          <a:p>
            <a:r>
              <a:rPr sz="4000" b="0">
                <a:solidFill>
                  <a:srgbClr val="1A1F1C"/>
                </a:solidFill>
                <a:latin typeface="Georgia"/>
              </a:rPr>
              <a:t>Empty of lore. Full of cause.</a:t>
            </a:r>
          </a:p>
        </p:txBody>
      </p:sp>
      <p:sp>
        <p:nvSpPr>
          <p:cNvPr id="4" name="TextBox 3"/>
          <p:cNvSpPr txBox="1"/>
          <p:nvPr/>
        </p:nvSpPr>
        <p:spPr>
          <a:xfrm>
            <a:off x="822960" y="2560320"/>
            <a:ext cx="10241280" cy="1463040"/>
          </a:xfrm>
          <a:prstGeom prst="rect">
            <a:avLst/>
          </a:prstGeom>
          <a:noFill/>
        </p:spPr>
        <p:txBody>
          <a:bodyPr wrap="square">
            <a:spAutoFit/>
          </a:bodyPr>
          <a:lstStyle/>
          <a:p>
            <a:r>
              <a:rPr sz="2000" b="0">
                <a:solidFill>
                  <a:srgbClr val="1A1F1C"/>
                </a:solidFill>
                <a:latin typeface="Calibri"/>
              </a:rPr>
              <a:t>Jams usually reward heart in the fiction. This is viral on purpose. The civic goal is the message. Prior jams: guygir.itch.io</a:t>
            </a:r>
          </a:p>
        </p:txBody>
      </p:sp>
      <p:pic>
        <p:nvPicPr>
          <p:cNvPr id="5" name="Picture 4" descr="qr-guygir-itchio.png"/>
          <p:cNvPicPr>
            <a:picLocks noChangeAspect="1"/>
          </p:cNvPicPr>
          <p:nvPr/>
        </p:nvPicPr>
        <p:blipFill>
          <a:blip r:embed="rId2"/>
          <a:stretch>
            <a:fillRect/>
          </a:stretch>
        </p:blipFill>
        <p:spPr>
          <a:xfrm>
            <a:off x="9509760" y="1188720"/>
            <a:ext cx="1828800" cy="1828800"/>
          </a:xfrm>
          <a:prstGeom prst="rect">
            <a:avLst/>
          </a:prstGeom>
        </p:spPr>
      </p:pic>
      <p:sp>
        <p:nvSpPr>
          <p:cNvPr id="6" name="TextBox 5"/>
          <p:cNvSpPr txBox="1"/>
          <p:nvPr/>
        </p:nvSpPr>
        <p:spPr>
          <a:xfrm>
            <a:off x="822960" y="6446520"/>
            <a:ext cx="5486400" cy="274320"/>
          </a:xfrm>
          <a:prstGeom prst="rect">
            <a:avLst/>
          </a:prstGeom>
          <a:noFill/>
        </p:spPr>
        <p:txBody>
          <a:bodyPr wrap="none">
            <a:spAutoFit/>
          </a:bodyPr>
          <a:lstStyle/>
          <a:p>
            <a:r>
              <a:rPr sz="1200" b="0">
                <a:solidFill>
                  <a:srgbClr val="1F4F4A"/>
                </a:solidFill>
                <a:latin typeface="Calibri"/>
              </a:rPr>
              <a:t>Kalpi  ·  pitch</a:t>
            </a:r>
          </a:p>
        </p:txBody>
      </p:sp>
      <p:sp>
        <p:nvSpPr>
          <p:cNvPr id="7" name="TextBox 6"/>
          <p:cNvSpPr txBox="1"/>
          <p:nvPr/>
        </p:nvSpPr>
        <p:spPr>
          <a:xfrm>
            <a:off x="9509760" y="6446520"/>
            <a:ext cx="1828800" cy="274320"/>
          </a:xfrm>
          <a:prstGeom prst="rect">
            <a:avLst/>
          </a:prstGeom>
          <a:noFill/>
        </p:spPr>
        <p:txBody>
          <a:bodyPr wrap="none">
            <a:spAutoFit/>
          </a:bodyPr>
          <a:lstStyle/>
          <a:p>
            <a:pPr algn="r"/>
            <a:r>
              <a:rPr sz="1200" b="0">
                <a:solidFill>
                  <a:srgbClr val="1F4F4A"/>
                </a:solidFill>
                <a:latin typeface="Calibri"/>
              </a:rPr>
              <a:t>22  /  23</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4EFE4"/>
        </a:solidFill>
        <a:effectLst/>
      </p:bgPr>
    </p:bg>
    <p:spTree>
      <p:nvGrpSpPr>
        <p:cNvPr id="1" name=""/>
        <p:cNvGrpSpPr/>
        <p:nvPr/>
      </p:nvGrpSpPr>
      <p:grpSpPr/>
      <p:sp>
        <p:nvSpPr>
          <p:cNvPr id="2" name="TextBox 1"/>
          <p:cNvSpPr txBox="1"/>
          <p:nvPr/>
        </p:nvSpPr>
        <p:spPr>
          <a:xfrm>
            <a:off x="822960" y="411480"/>
            <a:ext cx="10515600" cy="365760"/>
          </a:xfrm>
          <a:prstGeom prst="rect">
            <a:avLst/>
          </a:prstGeom>
          <a:noFill/>
        </p:spPr>
        <p:txBody>
          <a:bodyPr wrap="none">
            <a:spAutoFit/>
          </a:bodyPr>
          <a:lstStyle/>
          <a:p>
            <a:r>
              <a:rPr sz="1300" b="1">
                <a:solidFill>
                  <a:srgbClr val="1F4F4A"/>
                </a:solidFill>
                <a:latin typeface="Calibri"/>
              </a:rPr>
              <a:t>27 OCTOBER 2026</a:t>
            </a:r>
          </a:p>
        </p:txBody>
      </p:sp>
      <p:sp>
        <p:nvSpPr>
          <p:cNvPr id="3" name="TextBox 2"/>
          <p:cNvSpPr txBox="1"/>
          <p:nvPr/>
        </p:nvSpPr>
        <p:spPr>
          <a:xfrm>
            <a:off x="822960" y="1097280"/>
            <a:ext cx="10515600" cy="2286000"/>
          </a:xfrm>
          <a:prstGeom prst="rect">
            <a:avLst/>
          </a:prstGeom>
          <a:noFill/>
        </p:spPr>
        <p:txBody>
          <a:bodyPr wrap="square">
            <a:spAutoFit/>
          </a:bodyPr>
          <a:lstStyle/>
          <a:p>
            <a:r>
              <a:rPr sz="4000" b="0">
                <a:solidFill>
                  <a:srgbClr val="1A1F1C"/>
                </a:solidFill>
                <a:latin typeface="Georgia"/>
              </a:rPr>
              <a:t>Assume the gap. Give them a pack they will open.</a:t>
            </a:r>
          </a:p>
        </p:txBody>
      </p:sp>
      <p:sp>
        <p:nvSpPr>
          <p:cNvPr id="4" name="TextBox 3"/>
          <p:cNvSpPr txBox="1"/>
          <p:nvPr/>
        </p:nvSpPr>
        <p:spPr>
          <a:xfrm>
            <a:off x="822960" y="3566160"/>
            <a:ext cx="10241280" cy="2286000"/>
          </a:xfrm>
          <a:prstGeom prst="rect">
            <a:avLst/>
          </a:prstGeom>
          <a:noFill/>
        </p:spPr>
        <p:txBody>
          <a:bodyPr wrap="square">
            <a:spAutoFit/>
          </a:bodyPr>
          <a:lstStyle/>
          <a:p>
            <a:r>
              <a:rPr sz="2200" b="0">
                <a:solidFill>
                  <a:srgbClr val="1A1F1C"/>
                </a:solidFill>
                <a:latin typeface="Calibri"/>
              </a:rPr>
              <a:t>If this should leave the room, it needs to be live in September — free, Hebrew, seeded where 18–24 already are.</a:t>
            </a:r>
          </a:p>
        </p:txBody>
      </p:sp>
      <p:sp>
        <p:nvSpPr>
          <p:cNvPr id="5" name="TextBox 4"/>
          <p:cNvSpPr txBox="1"/>
          <p:nvPr/>
        </p:nvSpPr>
        <p:spPr>
          <a:xfrm>
            <a:off x="822960" y="6446520"/>
            <a:ext cx="5486400" cy="274320"/>
          </a:xfrm>
          <a:prstGeom prst="rect">
            <a:avLst/>
          </a:prstGeom>
          <a:noFill/>
        </p:spPr>
        <p:txBody>
          <a:bodyPr wrap="none">
            <a:spAutoFit/>
          </a:bodyPr>
          <a:lstStyle/>
          <a:p>
            <a:r>
              <a:rPr sz="1200" b="0">
                <a:solidFill>
                  <a:srgbClr val="1F4F4A"/>
                </a:solidFill>
                <a:latin typeface="Calibri"/>
              </a:rPr>
              <a:t>Kalpi  ·  pitch</a:t>
            </a:r>
          </a:p>
        </p:txBody>
      </p:sp>
      <p:sp>
        <p:nvSpPr>
          <p:cNvPr id="6" name="TextBox 5"/>
          <p:cNvSpPr txBox="1"/>
          <p:nvPr/>
        </p:nvSpPr>
        <p:spPr>
          <a:xfrm>
            <a:off x="9509760" y="6446520"/>
            <a:ext cx="1828800" cy="274320"/>
          </a:xfrm>
          <a:prstGeom prst="rect">
            <a:avLst/>
          </a:prstGeom>
          <a:noFill/>
        </p:spPr>
        <p:txBody>
          <a:bodyPr wrap="none">
            <a:spAutoFit/>
          </a:bodyPr>
          <a:lstStyle/>
          <a:p>
            <a:pPr algn="r"/>
            <a:r>
              <a:rPr sz="1200" b="0">
                <a:solidFill>
                  <a:srgbClr val="1F4F4A"/>
                </a:solidFill>
                <a:latin typeface="Calibri"/>
              </a:rPr>
              <a:t>23  /  23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